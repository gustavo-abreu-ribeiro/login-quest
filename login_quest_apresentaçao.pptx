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6F9"/>
    <a:srgbClr val="0F2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07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86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hyperlink" Target="https://gx.games/games/5ash56/login-quest/tracks/1c71bb57-f7eb-41e7-9609-2cead4636d5a/" TargetMode="Externa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00125"/>
            <a:ext cx="4457700" cy="455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LOGIN QUEST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428625" y="1598749"/>
            <a:ext cx="44577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0A3C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Jogo Sério para Conscientização em Cibersegurança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28625" y="2513149"/>
            <a:ext cx="4457700" cy="70544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2513149"/>
            <a:ext cx="28575" cy="705445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2656024"/>
            <a:ext cx="41719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Gustavo Emanuel Abreu Ribeiro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2900697"/>
            <a:ext cx="41719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Bacharelado em Ciência da Computação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25243" y="1668196"/>
            <a:ext cx="17912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ORIENTADORA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757401" y="2063941"/>
            <a:ext cx="215913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Prof. Letícia Toledo Maia Zoby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64409" y="2513149"/>
            <a:ext cx="275212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COORIENTADORA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208896" y="2926737"/>
            <a:ext cx="370764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Prof. Ma. Kadidja Valéria Reginaldo de Oliveira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13697" y="3458947"/>
            <a:ext cx="340284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F2862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UDF - Centro Universitário do Distrito Federal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88463" y="3718243"/>
            <a:ext cx="8876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Brasília,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VULNERABILIDADES E O FATOR HUMANO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0050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35731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543" y="1364456"/>
            <a:ext cx="20809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 DE VIOLAÇÃO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938" y="1635919"/>
            <a:ext cx="35718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R$ 6,75 Mi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2938" y="2019895"/>
            <a:ext cx="3571875" cy="40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médio de uma violação de dados no Brasil em 2024 (IBM).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14875" y="1143000"/>
            <a:ext cx="400050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357313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7793" y="1364456"/>
            <a:ext cx="184354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AMEAÇAS PHISHING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29188" y="1635919"/>
            <a:ext cx="35718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893 Milhões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929188" y="2019895"/>
            <a:ext cx="3571875" cy="40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Tentativas de phishing bloqueadas pela Kaspersky em 2024 (+26%).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0386" y="4050156"/>
            <a:ext cx="8286750" cy="1000125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350168" y="4399128"/>
            <a:ext cx="77152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fator humano é realmente o elo mais fraco da segurança."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14375" y="4824539"/>
            <a:ext cx="77152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Kevin Mitnick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8624" y="2641581"/>
            <a:ext cx="385202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Limitações dos Métodos Tradicionais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41157" y="2917220"/>
            <a:ext cx="261938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Baixo Engajamento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41157" y="3182191"/>
            <a:ext cx="2306592" cy="68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Palestras e cartilhas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estáticas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desinteresse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pouca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retenção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41157" y="3190756"/>
            <a:ext cx="166806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002506" y="2913128"/>
            <a:ext cx="261938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Prática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000137" y="3181981"/>
            <a:ext cx="2559248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Treinamentos lineares não simulam 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tomada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real.</a:t>
            </a:r>
            <a:endParaRPr lang="en-US" sz="1200" dirty="0"/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3000137" y="3182191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5741650" y="2893547"/>
            <a:ext cx="261938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Tardio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762397" y="3230352"/>
            <a:ext cx="2667228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ausência de correção imediata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dificulta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aprendizagem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padrões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5762397" y="3182191"/>
            <a:ext cx="1426964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OBJETIVOS DO PROJETO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00500" cy="355144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428750"/>
            <a:ext cx="3429000" cy="31995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 Geral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4375" y="1891308"/>
            <a:ext cx="3429000" cy="218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e avaliar o </a:t>
            </a:r>
            <a:r>
              <a:rPr lang="en-US" sz="16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Quest</a:t>
            </a: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um jogo sério para conscientização em cibersegurança, visando promover a aprendizagem de boas práticas e apoiar a </a:t>
            </a:r>
            <a:r>
              <a:rPr lang="en-US" sz="16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ameaças</a:t>
            </a: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relacionadas ao fator humano.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3822911"/>
            <a:ext cx="857250" cy="8572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14875" y="1143000"/>
            <a:ext cx="4000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23" y="1343025"/>
            <a:ext cx="19955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35894" y="1267529"/>
            <a:ext cx="3479481" cy="37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fatores humanos associados a vulnerabilidades digitais.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14875" y="1857375"/>
            <a:ext cx="4000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922" y="2079427"/>
            <a:ext cx="178203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4547" y="1976863"/>
            <a:ext cx="3322234" cy="37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Projetar situações simuladas baseadas em aprendizagem ativa e feedback.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14875" y="2571750"/>
            <a:ext cx="4000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555" y="2771775"/>
            <a:ext cx="214313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4547" y="2669211"/>
            <a:ext cx="3286125" cy="37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versão funcional usando GameMaker, Aseprite e Figma.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14875" y="3286125"/>
            <a:ext cx="4000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486150"/>
            <a:ext cx="197848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24369" y="3383586"/>
            <a:ext cx="3302589" cy="37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efetividade via pré-teste e pós-teste com 30 participantes.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714875" y="4000500"/>
            <a:ext cx="4000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8388" y="4200525"/>
            <a:ext cx="214313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68516" y="4097961"/>
            <a:ext cx="3286125" cy="37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percepção de usabilidade, engajamento e utilidade percebida.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FUNDAMENTAÇÃO TEÓRICA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357313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334214"/>
            <a:ext cx="1792157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SERIOUS GAMES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2937" y="1629342"/>
            <a:ext cx="3607594" cy="127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Jogos desenvolvidos com um propósito primordial além do puro entretenimento. No contexto do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Quest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 foco é a educação e o treinamento em segurança digital através de simulações.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79156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357313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00649" y="1370707"/>
            <a:ext cx="259677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APRENDIZAGEM ATIVA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847976" y="1629342"/>
            <a:ext cx="3831999" cy="127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Metodologia onde o aluno é o protagonista. O conhecimento é construído através da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experiência direta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tomada de decisão e enfrentamento de consequências em ambiente controlado.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28625" y="3184326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464719"/>
            <a:ext cx="225028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5122" y="3411908"/>
            <a:ext cx="1566134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GAMIFICAÇÃO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42938" y="3857625"/>
            <a:ext cx="3607594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de elementos de design de jogos (pontuação, níveis, desafios) em contextos de não-jogo para aumentar o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engajamento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a motivação dos participantes.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679156" y="3184326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464719"/>
            <a:ext cx="200025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00650" y="3441620"/>
            <a:ext cx="233746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 IMEDIATO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856080" y="3733503"/>
            <a:ext cx="3859295" cy="127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Elemento crucial para a aprendizagem. A correção ou reforço no momento exato da ação permite que o usuário identifique padrões de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ameaças</a:t>
            </a: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consolide boas práticas rapidamente.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TRABALHOS CORRELATOS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8286750" cy="2051149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Shape 4"/>
          <p:cNvSpPr/>
          <p:nvPr/>
        </p:nvSpPr>
        <p:spPr>
          <a:xfrm>
            <a:off x="432197" y="1146572"/>
            <a:ext cx="1338672" cy="307181"/>
          </a:xfrm>
          <a:prstGeom prst="rect">
            <a:avLst/>
          </a:prstGeom>
          <a:solidFill>
            <a:srgbClr val="0F2862"/>
          </a:solidFill>
          <a:ln w="9144">
            <a:solidFill>
              <a:srgbClr val="00A3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32197" y="1146572"/>
            <a:ext cx="1338672" cy="307181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770869" y="1146572"/>
            <a:ext cx="1581894" cy="307181"/>
          </a:xfrm>
          <a:prstGeom prst="rect">
            <a:avLst/>
          </a:prstGeom>
          <a:solidFill>
            <a:srgbClr val="0F2862"/>
          </a:solidFill>
          <a:ln w="9144">
            <a:solidFill>
              <a:srgbClr val="00A3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770869" y="1146572"/>
            <a:ext cx="1581894" cy="307181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Público-Alvo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2763" y="1146572"/>
            <a:ext cx="1949881" cy="307181"/>
          </a:xfrm>
          <a:prstGeom prst="rect">
            <a:avLst/>
          </a:prstGeom>
          <a:solidFill>
            <a:srgbClr val="0F2862"/>
          </a:solidFill>
          <a:ln w="9144">
            <a:solidFill>
              <a:srgbClr val="00A3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352763" y="1146572"/>
            <a:ext cx="1949881" cy="307181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Foco Principal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2644" y="1146572"/>
            <a:ext cx="3409159" cy="307181"/>
          </a:xfrm>
          <a:prstGeom prst="rect">
            <a:avLst/>
          </a:prstGeom>
          <a:solidFill>
            <a:srgbClr val="0F2862"/>
          </a:solidFill>
          <a:ln w="9144">
            <a:solidFill>
              <a:srgbClr val="00A3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302644" y="1146572"/>
            <a:ext cx="3409159" cy="307181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Limitação / Diferencial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2197" y="1446609"/>
            <a:ext cx="1338672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 Resistance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770869" y="1446609"/>
            <a:ext cx="1581894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 TI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52763" y="1446609"/>
            <a:ext cx="1949881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de Infraestrutura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02644" y="1446609"/>
            <a:ext cx="3409159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datado e foco técnico restrito.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32197" y="1716286"/>
            <a:ext cx="1338672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 Defender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770869" y="1716286"/>
            <a:ext cx="1581894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Estudantes de Redes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52763" y="1716286"/>
            <a:ext cx="1949881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Defesa de Perímetro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302644" y="1716286"/>
            <a:ext cx="3409159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complexidade para usuários leigos.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32197" y="1985963"/>
            <a:ext cx="1338672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770869" y="1985963"/>
            <a:ext cx="1581894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Crianças / Escolar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52763" y="1985963"/>
            <a:ext cx="1949881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Básicos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302644" y="1985963"/>
            <a:ext cx="3409159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Abordagem lúdica sem contexto corporativo.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25053" y="2823568"/>
            <a:ext cx="8279606" cy="367009"/>
          </a:xfrm>
          <a:prstGeom prst="rect">
            <a:avLst/>
          </a:prstGeom>
          <a:solidFill>
            <a:srgbClr val="E5F6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32197" y="2255639"/>
            <a:ext cx="1338672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Quest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770869" y="2255639"/>
            <a:ext cx="1581894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Usuário Corporativo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52763" y="2255639"/>
            <a:ext cx="1949881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Fator Humano / SOC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02644" y="2255639"/>
            <a:ext cx="3409159" cy="269677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Simulação realista de rotina e tomada de decisão.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48526" y="3746110"/>
            <a:ext cx="8849615" cy="111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145858" y="3749153"/>
            <a:ext cx="52373" cy="111744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25053" y="3491040"/>
            <a:ext cx="80010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que o Login Quest se destaca?</a:t>
            </a:r>
            <a:endParaRPr lang="en-US" sz="16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19" y="3853915"/>
            <a:ext cx="169959" cy="19423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59498" y="3856129"/>
            <a:ext cx="137069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Contextualização: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1845294" y="3860118"/>
            <a:ext cx="344197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Ambientado na empresa fictícia CyProtect.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141035" y="3850546"/>
            <a:ext cx="74379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Realismo: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939026" y="3839827"/>
            <a:ext cx="2952155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que simulam sistemas reais (E-mail, Logs, Scanner).</a:t>
            </a:r>
            <a:endParaRPr lang="en-US" sz="1200" dirty="0"/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4625578" y="4203204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493012" y="4412016"/>
            <a:ext cx="75982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</a:t>
            </a: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1277204" y="4415777"/>
            <a:ext cx="276820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Explicações pedagógicas imediatas para cada ação.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5154999" y="4444150"/>
            <a:ext cx="1122102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Acessibilidade</a:t>
            </a: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6313117" y="4444150"/>
            <a:ext cx="248245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clara para não-especialistas em TI.</a:t>
            </a:r>
            <a:endParaRPr lang="en-US" sz="1200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393A3FD4-A59F-E84C-3527-5FB2D11D9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97028"/>
              </p:ext>
            </p:extLst>
          </p:nvPr>
        </p:nvGraphicFramePr>
        <p:xfrm>
          <a:off x="65660" y="915632"/>
          <a:ext cx="8982804" cy="2517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701">
                  <a:extLst>
                    <a:ext uri="{9D8B030D-6E8A-4147-A177-3AD203B41FA5}">
                      <a16:colId xmlns:a16="http://schemas.microsoft.com/office/drawing/2014/main" val="3441308159"/>
                    </a:ext>
                  </a:extLst>
                </a:gridCol>
                <a:gridCol w="2245701">
                  <a:extLst>
                    <a:ext uri="{9D8B030D-6E8A-4147-A177-3AD203B41FA5}">
                      <a16:colId xmlns:a16="http://schemas.microsoft.com/office/drawing/2014/main" val="2673499446"/>
                    </a:ext>
                  </a:extLst>
                </a:gridCol>
                <a:gridCol w="2245701">
                  <a:extLst>
                    <a:ext uri="{9D8B030D-6E8A-4147-A177-3AD203B41FA5}">
                      <a16:colId xmlns:a16="http://schemas.microsoft.com/office/drawing/2014/main" val="3845759515"/>
                    </a:ext>
                  </a:extLst>
                </a:gridCol>
                <a:gridCol w="2245701">
                  <a:extLst>
                    <a:ext uri="{9D8B030D-6E8A-4147-A177-3AD203B41FA5}">
                      <a16:colId xmlns:a16="http://schemas.microsoft.com/office/drawing/2014/main" val="1706826061"/>
                    </a:ext>
                  </a:extLst>
                </a:gridCol>
              </a:tblGrid>
              <a:tr h="457341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Projeto</a:t>
                      </a:r>
                      <a:endParaRPr lang="pt-BR" sz="1600" dirty="0"/>
                    </a:p>
                  </a:txBody>
                  <a:tcPr>
                    <a:solidFill>
                      <a:srgbClr val="0F28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Público-Alvo</a:t>
                      </a:r>
                      <a:endParaRPr lang="pt-BR" sz="1600" dirty="0"/>
                    </a:p>
                  </a:txBody>
                  <a:tcPr>
                    <a:solidFill>
                      <a:srgbClr val="0F28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Foco Principal</a:t>
                      </a:r>
                      <a:endParaRPr lang="en-US" sz="1600" dirty="0"/>
                    </a:p>
                  </a:txBody>
                  <a:tcPr>
                    <a:solidFill>
                      <a:srgbClr val="0F28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Limitação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 /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Diferencial</a:t>
                      </a:r>
                      <a:endParaRPr lang="en-US" sz="1200" dirty="0"/>
                    </a:p>
                  </a:txBody>
                  <a:tcPr>
                    <a:solidFill>
                      <a:srgbClr val="0F2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54177"/>
                  </a:ext>
                </a:extLst>
              </a:tr>
              <a:tr h="4769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Cyber Resistance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Profissionais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TI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Proteção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Infraestrutura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Visual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datado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foco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técnico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restrito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062547"/>
                  </a:ext>
                </a:extLst>
              </a:tr>
              <a:tr h="4769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Cyber Defender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Estudantes de Redes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Defesa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Perímetro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complexidade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usuários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leigos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43016"/>
                  </a:ext>
                </a:extLst>
              </a:tr>
              <a:tr h="476947"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Encrypta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Crianças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/ Escolar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Conceitos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Básicos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Abordagem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lúdica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sem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corporativo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957229"/>
                  </a:ext>
                </a:extLst>
              </a:tr>
              <a:tr h="6288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A3C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Login Quest</a:t>
                      </a:r>
                      <a:endParaRPr lang="en-US" sz="1100" dirty="0"/>
                    </a:p>
                  </a:txBody>
                  <a:tcP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Usuário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Corporativo</a:t>
                      </a:r>
                      <a:endParaRPr lang="en-US" sz="1100" dirty="0"/>
                    </a:p>
                  </a:txBody>
                  <a:tcP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Fator Humano / SOC</a:t>
                      </a:r>
                      <a:endParaRPr lang="en-US" sz="1100" dirty="0"/>
                    </a:p>
                  </a:txBody>
                  <a:tcP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Simulação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realista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rotina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tomada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decisão</a:t>
                      </a:r>
                      <a:r>
                        <a:rPr lang="en-US" sz="11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</a:t>
                      </a:r>
                      <a:endParaRPr lang="en-US" sz="1100" dirty="0"/>
                    </a:p>
                  </a:txBody>
                  <a:tcP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84761"/>
                  </a:ext>
                </a:extLst>
              </a:tr>
            </a:tbl>
          </a:graphicData>
        </a:graphic>
      </p:graphicFrame>
      <p:pic>
        <p:nvPicPr>
          <p:cNvPr id="50" name="Image 1" descr="preencoded.png">
            <a:extLst>
              <a:ext uri="{FF2B5EF4-FFF2-40B4-BE49-F238E27FC236}">
                <a16:creationId xmlns:a16="http://schemas.microsoft.com/office/drawing/2014/main" id="{622300C4-0451-22DA-8F48-E70659717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110" y="3850546"/>
            <a:ext cx="169959" cy="194238"/>
          </a:xfrm>
          <a:prstGeom prst="rect">
            <a:avLst/>
          </a:prstGeom>
        </p:spPr>
      </p:pic>
      <p:pic>
        <p:nvPicPr>
          <p:cNvPr id="52" name="Image 1" descr="preencoded.png">
            <a:extLst>
              <a:ext uri="{FF2B5EF4-FFF2-40B4-BE49-F238E27FC236}">
                <a16:creationId xmlns:a16="http://schemas.microsoft.com/office/drawing/2014/main" id="{6089BE13-5B68-5748-AAB3-9F95C85DA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09" y="4412016"/>
            <a:ext cx="169959" cy="194238"/>
          </a:xfrm>
          <a:prstGeom prst="rect">
            <a:avLst/>
          </a:prstGeom>
        </p:spPr>
      </p:pic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E6D238EA-4441-8DEF-48BF-1BAE8700B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024" y="4448423"/>
            <a:ext cx="169959" cy="194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DIFERENCIAIS DO LOGIN QUEST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42938" y="1357313"/>
            <a:ext cx="571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53" y="1514475"/>
            <a:ext cx="321469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453" y="1308284"/>
            <a:ext cx="2857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SIMULAÇÃO DE SOC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39453" y="1552303"/>
            <a:ext cx="2857500" cy="127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jogador assume o papel real de um analista de segurança na empresa CyProtect, lidando com ferramentas e protocolos corporativos autênticos.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79156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893469" y="1357313"/>
            <a:ext cx="571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631" y="1514475"/>
            <a:ext cx="257175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22118" y="1317248"/>
            <a:ext cx="2857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FLUXO CONTÍNUO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522118" y="1563469"/>
            <a:ext cx="3039578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Diferente de quizzes estáticos, o jogo apresenta um fluxo de trabalho dinâmico que simula a pressão e o volume de decisões do dia a dia.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8625" y="3155751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574699" y="3336131"/>
            <a:ext cx="571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66" y="3493293"/>
            <a:ext cx="257175" cy="2571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71214" y="3305007"/>
            <a:ext cx="324164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DIVERSIDADE DE AMEAÇAS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71213" y="3618334"/>
            <a:ext cx="2979317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 múltiplos vetores: phishing por e-mail, anexos maliciosos, engenharia social via chat interno e análise de logs de acesso.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679156" y="3155751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856542" y="3336131"/>
            <a:ext cx="571500" cy="571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557" y="3471862"/>
            <a:ext cx="321469" cy="2571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17338" y="3341499"/>
            <a:ext cx="313989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 PEDAGÓGICO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522118" y="3694998"/>
            <a:ext cx="3039578" cy="127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relatórios finais que não apenas pontuam, mas explicam detalhadamente os riscos identificados e as boas práticas ignoradas.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ARQUITETURA DO SISTEMA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175379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357313"/>
            <a:ext cx="225028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5116" y="1327189"/>
            <a:ext cx="327540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INTERFACE (UI/UX)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5716" y="1750219"/>
            <a:ext cx="3912511" cy="1254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Simulação de ambiente operacional corporativo (SOC).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Prototipagem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fidelidade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Figma.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 multi-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janelas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imersão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analista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focado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clareza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tomada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42938" y="19931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2938" y="22217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42938" y="24503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79156" y="1143000"/>
            <a:ext cx="4036219" cy="175379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357313"/>
            <a:ext cx="250031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5653" y="1304214"/>
            <a:ext cx="266959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LÓGICA DO JOGO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893469" y="1750219"/>
            <a:ext cx="3377912" cy="871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 de execução e controle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Desenvolvido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GameMaker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Studio.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Scripts GML para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93469" y="19931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893469" y="22217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893469" y="2450306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28625" y="3111103"/>
            <a:ext cx="4036219" cy="175379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325416"/>
            <a:ext cx="175022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115" y="3291602"/>
            <a:ext cx="270033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DADOS E CONTEÚDO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2938" y="3718322"/>
            <a:ext cx="3441776" cy="1189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armazenamento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dados JSON para e-mails 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diálogos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protocolos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base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funcionários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Geração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dinâmica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logs.</a:t>
            </a:r>
            <a:endParaRPr lang="en-US" sz="1200" dirty="0"/>
          </a:p>
          <a:p>
            <a:pPr>
              <a:lnSpc>
                <a:spcPct val="120000"/>
              </a:lnSpc>
            </a:pP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642938" y="39612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42938" y="41898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42938" y="44184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79156" y="3111103"/>
            <a:ext cx="4036219" cy="175379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325416"/>
            <a:ext cx="225028" cy="2000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25652" y="3302250"/>
            <a:ext cx="344522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AVALIAÇÃO E FEEDBACK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893469" y="3718322"/>
            <a:ext cx="3477170" cy="1032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 de mensuração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aprendizagem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pontuação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baseado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pedagógicos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final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dia.</a:t>
            </a:r>
            <a:endParaRPr lang="en-US" sz="12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imediato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correção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padrões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4893469" y="39612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4893469" y="41898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893469" y="4418409"/>
            <a:ext cx="65" cy="146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0" y="4864894"/>
            <a:ext cx="9144000" cy="278606"/>
          </a:xfrm>
          <a:prstGeom prst="rect">
            <a:avLst/>
          </a:prstGeom>
          <a:noFill/>
          <a:ln/>
        </p:spPr>
        <p:txBody>
          <a:bodyPr wrap="square" lIns="510286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modular baseada na metodologia Design Science Research (DSR).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55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MÓDULOS FUNCIONAIS: FERRAMENTAS DO ANALISTA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32159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247" y="1284208"/>
            <a:ext cx="229314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E-MAIL &amp; INSPEÇÃO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7219" y="1600200"/>
            <a:ext cx="2286000" cy="95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para análise de remetentes, links suspeitos e corpo da mensagem em busca de phishing.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7219" y="2692766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EXTERNA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50406" y="1143000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250406" y="1143000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21594"/>
            <a:ext cx="150019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21881" y="1290742"/>
            <a:ext cx="277892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DE PROTOCOLOS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429000" y="1600200"/>
            <a:ext cx="2286000" cy="119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Guia de referência com as políticas de segurança da CyProtect para consulta durante a tomada de decisão.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11140" y="2727854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CONHECIMENTO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072188" y="1143000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6072188" y="1143000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781" y="1321594"/>
            <a:ext cx="214313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43675" y="1299597"/>
            <a:ext cx="210740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 DE FUNCIONÁRIOS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50781" y="1600200"/>
            <a:ext cx="2286000" cy="95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 de dados internos para validar se solicitações de acesso partem de colaboradores legítimos.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248729" y="2726652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DE IDENTIDADE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8625" y="3161109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28625" y="3161109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411141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85824" y="3418284"/>
            <a:ext cx="184372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SCANNER DE ANEXOS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07219" y="3689747"/>
            <a:ext cx="2286000" cy="119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técnica para análise de arquivos recebidos, identificando extensões e conteúdos maliciosos.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00769" y="4749238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TÉCNICA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50405" y="3171095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3256856" y="3168252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411141"/>
            <a:ext cx="192881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29038" y="3418284"/>
            <a:ext cx="191452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TERMINAL DE LOGS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429000" y="3689747"/>
            <a:ext cx="2286000" cy="119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 de acessos ao sistema, permitindo identificar tentativas de login indevidas ou anomalias.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429000" y="4774370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072188" y="3169890"/>
            <a:ext cx="2643188" cy="191095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9"/>
          <p:cNvSpPr/>
          <p:nvPr/>
        </p:nvSpPr>
        <p:spPr>
          <a:xfrm>
            <a:off x="6072188" y="3168252"/>
            <a:ext cx="35719" cy="189666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0781" y="3411141"/>
            <a:ext cx="214313" cy="17145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72249" y="3418284"/>
            <a:ext cx="218118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CHAT &amp; RELATÓRIO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250781" y="3689747"/>
            <a:ext cx="2286000" cy="95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Interação com a equipe via chat interno e geração de relatório final para prestação de contas do dia.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6248729" y="4731032"/>
            <a:ext cx="2286000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&amp; GESTÃO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FLUXO DE APRENDIZAGEM: CICLO DE DECISÃO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85750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8" y="160734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951" y="1883450"/>
            <a:ext cx="100837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RECEBER TAREFA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00038" y="2300288"/>
            <a:ext cx="1271587" cy="76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Novos inputs do sistema: e-mails, chats ou chamados.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772" y="2128838"/>
            <a:ext cx="107156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743075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8"/>
          <p:cNvSpPr/>
          <p:nvPr/>
        </p:nvSpPr>
        <p:spPr>
          <a:xfrm>
            <a:off x="1743075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1713" y="160734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81540" y="1901310"/>
            <a:ext cx="117240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ANALISAR EVIDÊNCIAS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850231" y="2300288"/>
            <a:ext cx="1071563" cy="76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sinais de alerta e anomalias.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097" y="2128838"/>
            <a:ext cx="107156" cy="17145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200400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2"/>
          <p:cNvSpPr/>
          <p:nvPr/>
        </p:nvSpPr>
        <p:spPr>
          <a:xfrm>
            <a:off x="3200400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0" y="1607344"/>
            <a:ext cx="257175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228975" y="1879465"/>
            <a:ext cx="124301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CONSULTAR FERRAMENTAS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307556" y="2300288"/>
            <a:ext cx="1071563" cy="76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do manual, scanner e base de dados.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2" y="2128838"/>
            <a:ext cx="107156" cy="17145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657725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6"/>
          <p:cNvSpPr/>
          <p:nvPr/>
        </p:nvSpPr>
        <p:spPr>
          <a:xfrm>
            <a:off x="4657725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6363" y="1607344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60025" y="1993643"/>
            <a:ext cx="68127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DECIDIR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4764881" y="2300288"/>
            <a:ext cx="1071563" cy="568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Classificar como Seguro ou Ameaça.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47" y="2128838"/>
            <a:ext cx="107156" cy="17145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6115050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0"/>
          <p:cNvSpPr/>
          <p:nvPr/>
        </p:nvSpPr>
        <p:spPr>
          <a:xfrm>
            <a:off x="6115050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688" y="1607344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312353" y="1993643"/>
            <a:ext cx="891270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</a:t>
            </a:r>
            <a:endParaRPr lang="en-US" sz="1050" dirty="0"/>
          </a:p>
        </p:txBody>
      </p:sp>
      <p:sp>
        <p:nvSpPr>
          <p:cNvPr id="34" name="Text 22"/>
          <p:cNvSpPr/>
          <p:nvPr/>
        </p:nvSpPr>
        <p:spPr>
          <a:xfrm>
            <a:off x="6222206" y="2300288"/>
            <a:ext cx="1071563" cy="76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Explicação imediata sobre o acerto ou erro.</a:t>
            </a:r>
            <a:endParaRPr lang="en-US" sz="12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072" y="2128838"/>
            <a:ext cx="107156" cy="171450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7572375" y="1428750"/>
            <a:ext cx="1285875" cy="176937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4"/>
          <p:cNvSpPr/>
          <p:nvPr/>
        </p:nvSpPr>
        <p:spPr>
          <a:xfrm>
            <a:off x="7572375" y="1428750"/>
            <a:ext cx="1271588" cy="3571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588" y="1607344"/>
            <a:ext cx="171450" cy="22860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757655" y="1993643"/>
            <a:ext cx="91531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APRENDER</a:t>
            </a:r>
            <a:endParaRPr lang="en-US" sz="1050" dirty="0"/>
          </a:p>
        </p:txBody>
      </p:sp>
      <p:sp>
        <p:nvSpPr>
          <p:cNvPr id="40" name="Text 26"/>
          <p:cNvSpPr/>
          <p:nvPr/>
        </p:nvSpPr>
        <p:spPr>
          <a:xfrm>
            <a:off x="7679531" y="2300288"/>
            <a:ext cx="1071563" cy="760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Consolidação do padrão para novos desafios.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285750" y="3429000"/>
            <a:ext cx="85725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28"/>
          <p:cNvSpPr/>
          <p:nvPr/>
        </p:nvSpPr>
        <p:spPr>
          <a:xfrm>
            <a:off x="564179" y="3646984"/>
            <a:ext cx="8001000" cy="49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ciclo iterativo promove a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aprendizagem ativa</a:t>
            </a: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transformando a teoria em </a:t>
            </a:r>
            <a:r>
              <a:rPr lang="en-US" sz="1200" b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capacidade prática</a:t>
            </a: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reconhecimento de ameaças em tempo real.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TECNOLOGIAS UTILIZADAS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202140"/>
            <a:ext cx="2619356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381116" y="1571625"/>
            <a:ext cx="714375" cy="714375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1" y="1757363"/>
            <a:ext cx="42862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4699" y="2498527"/>
            <a:ext cx="2405015" cy="33214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GAMEMAKER STUDIO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2938" y="2927152"/>
            <a:ext cx="2190731" cy="163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 de jogo principal utilizado para o desenvolvimento da lógica 2D, gerenciamento de estados e exportação do executável final.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5236" y="4618064"/>
            <a:ext cx="2552690" cy="35638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1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DESENVOLVIMENTO &amp; LÓGICA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33719" y="1202140"/>
            <a:ext cx="2619384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4214785" y="1571625"/>
            <a:ext cx="714375" cy="714375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22" y="1757363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6606" y="2500313"/>
            <a:ext cx="2190759" cy="33214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ASEPRITE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76606" y="2927152"/>
            <a:ext cx="2190759" cy="1357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especializada em pixel art para a criação de todos os assets visuais, ícones customizados e animações de interface.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214604" y="4618064"/>
            <a:ext cx="2638499" cy="35638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1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ARTE &amp; IDENTIDADE VISUAL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96019" y="1202139"/>
            <a:ext cx="2619356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7048481" y="1571625"/>
            <a:ext cx="714375" cy="714375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219" y="1757363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0303" y="2500313"/>
            <a:ext cx="2190731" cy="33214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FIGMA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310303" y="2927152"/>
            <a:ext cx="2190731" cy="163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 de design de interface utilizada para a prototipagem de alta fidelidade e definição do layout do sistema operacional SOC.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95964" y="4618063"/>
            <a:ext cx="2619356" cy="35638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1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PROTOTIPAGEM &amp; UI/UX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478631"/>
            <a:ext cx="6429375" cy="4186238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Shape 1"/>
          <p:cNvSpPr/>
          <p:nvPr/>
        </p:nvSpPr>
        <p:spPr>
          <a:xfrm>
            <a:off x="1357313" y="478631"/>
            <a:ext cx="6429375" cy="71438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053703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8806" y="1935956"/>
            <a:ext cx="538638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3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DEMONSTRAÇÃO PRÁTICA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1785938" y="2496741"/>
            <a:ext cx="557212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A3C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  <a:hlinkClick r:id="rId5"/>
              </a:rPr>
              <a:t>https://gx.games/games/5ash56/login-quest/tracks/1c71bb57-f7eb-41e7-9609-2cead4636d5a/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0B3FC4-F905-C9F8-AB10-D1E7F66D3A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24" y="2992912"/>
            <a:ext cx="1481351" cy="14813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METODOLOGIA DE AVALIAÇÃO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82867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57150" cy="842963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2937" y="1216182"/>
            <a:ext cx="78581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 SCIENCE RESEARCH (DSR)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2936" y="1501815"/>
            <a:ext cx="7858125" cy="46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Metodologia focada na criação e avaliação de artefatos para resolver problemas organizacionais identificados, garantindo rigor científico e relevância prática.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625" y="2286000"/>
            <a:ext cx="1964531" cy="1862919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1500" y="2464594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A3C4">
                    <a:alpha val="5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571500" y="2953941"/>
            <a:ext cx="16787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PRÉ-TESTE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3218259"/>
            <a:ext cx="1678781" cy="816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Avaliação do nível de conhecimento prévio dos participantes sobre cibersegurança.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36031" y="2286000"/>
            <a:ext cx="1964531" cy="1862919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678906" y="2464594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A3C4">
                    <a:alpha val="5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2678906" y="2953941"/>
            <a:ext cx="16787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GAMEPLAY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78906" y="3218259"/>
            <a:ext cx="1678781" cy="816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Interação direta com o Login Quest, assumindo o papel de analista de SOC.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43438" y="2286000"/>
            <a:ext cx="1964531" cy="1862919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86313" y="2464594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A3C4">
                    <a:alpha val="5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4786313" y="2953941"/>
            <a:ext cx="16787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PÓS-TESTE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86313" y="3218259"/>
            <a:ext cx="1678781" cy="816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Mensuração da retenção e ganho de conhecimento após o uso do jogo.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50844" y="2286000"/>
            <a:ext cx="1964531" cy="1862919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893719" y="2464594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A3C4">
                    <a:alpha val="5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6893719" y="2953941"/>
            <a:ext cx="16787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PERCEPÇÃO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93719" y="3218259"/>
            <a:ext cx="1678781" cy="816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Questionário em escala Likert para avaliar usabilidade e engajamento.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625" y="4286250"/>
            <a:ext cx="8286750" cy="61784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59" y="4364831"/>
            <a:ext cx="214313" cy="1714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69305" y="4364831"/>
            <a:ext cx="201543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Amostra: 30 Participantes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703" y="4296788"/>
            <a:ext cx="128588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49391" y="4318488"/>
            <a:ext cx="286598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Abordagem: Quantitativa e Qualitativa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7578" y="4650225"/>
            <a:ext cx="171450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042438" y="4650225"/>
            <a:ext cx="3286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286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Ambiente: Controlado (Laboratório/Remoto)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9175845" cy="50113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PERFIL DOS PARTICIPANTES (N=30)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07219" y="1285875"/>
            <a:ext cx="3679031" cy="258404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FAIXA ETÁRIA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22" y="1521619"/>
            <a:ext cx="3664744" cy="1285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405" y="2841427"/>
            <a:ext cx="382190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Predominância de jovens adultos (18-30 anos)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79156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679156" y="1143000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4857750" y="1285875"/>
            <a:ext cx="3679031" cy="258404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USO DE COMPUTADOR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94" y="1622911"/>
            <a:ext cx="840839" cy="7474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21251" y="2441762"/>
            <a:ext cx="198774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90%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34258" y="2831097"/>
            <a:ext cx="31191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Utilizam diariamente para trabalho/estudo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28624" y="3127177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420521" y="3121820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520783" y="3186113"/>
            <a:ext cx="3679031" cy="258404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EXPERIÊNCIA COM JOGOS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70" y="3432290"/>
            <a:ext cx="3874236" cy="13593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-93366" y="4831349"/>
            <a:ext cx="36790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variado: de casuais a frequentes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97015" y="3127177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4690271" y="3132534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4819355" y="3205674"/>
            <a:ext cx="3679031" cy="53540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TREINAMENTO PRÉVIO EM SEGURANÇA</a:t>
            </a:r>
            <a:endParaRPr lang="en-US" sz="16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3709266"/>
            <a:ext cx="744798" cy="5958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57877" y="4408465"/>
            <a:ext cx="16394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30%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641478" y="4793144"/>
            <a:ext cx="264349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Já realizaram treinamentos formais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RESULTADOS E DISCUSSÃO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1482" y="1000124"/>
            <a:ext cx="400050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51953" y="1113209"/>
            <a:ext cx="3571875" cy="28918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EVOLUÇÃO DE DESEMPENHO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2938" y="1723430"/>
            <a:ext cx="3571875" cy="508992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42938" y="1723430"/>
            <a:ext cx="35719" cy="508992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85813" y="1866305"/>
            <a:ext cx="1280517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+30,42%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059489" y="1816418"/>
            <a:ext cx="1237655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Ganho Médio de
Conhecimento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75" y="2446734"/>
            <a:ext cx="3785206" cy="22802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5225" y="1000124"/>
            <a:ext cx="400050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4789903" y="1089611"/>
            <a:ext cx="3875822" cy="28918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PERCEPÇÃO DOS PARTICIPANTES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929188" y="1723430"/>
            <a:ext cx="3571875" cy="508992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929188" y="1723430"/>
            <a:ext cx="35719" cy="508992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5072063" y="1866305"/>
            <a:ext cx="1057275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A3C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4,31 / 5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7332882" y="1823165"/>
            <a:ext cx="1250512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Média Geral de
Satisfação (Likert)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29188" y="2446734"/>
            <a:ext cx="154074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Clareza dos Objetivos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072313" y="2471738"/>
            <a:ext cx="1428750" cy="857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4929188" y="2765906"/>
            <a:ext cx="1255152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Facilidade de Uso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072313" y="2714625"/>
            <a:ext cx="1428750" cy="857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4922975" y="3091532"/>
            <a:ext cx="152926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Engajamento / Imersão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072313" y="2957513"/>
            <a:ext cx="1428750" cy="857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4929627" y="3429253"/>
            <a:ext cx="139474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Utilidade Percebida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072313" y="3200400"/>
            <a:ext cx="1428750" cy="857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4924449" y="3784459"/>
            <a:ext cx="152779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Aplicabilidade Prática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072313" y="3443288"/>
            <a:ext cx="1428750" cy="857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4789903" y="4549973"/>
            <a:ext cx="357187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*Dados coletados via questionário pós-intervenção com 30 participantes.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538CAEA-954E-0C69-A340-FB3BA3111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959" y="2387893"/>
            <a:ext cx="2059612" cy="16250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CONCLUSÕES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8286750" cy="69863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000125"/>
            <a:ext cx="71438" cy="68434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27999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7275" y="1026795"/>
            <a:ext cx="74009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EFICÁCIA PEDAGÓGICA COMPROVADA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85850" y="1278731"/>
            <a:ext cx="7400925" cy="40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Login Quest demonstrou ser uma ferramenta superior aos métodos lineares, alcançando um ganho médio de 30,42 pontos percentuais no conhecimento dos participantes.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8625" y="1770199"/>
            <a:ext cx="8286750" cy="69863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28625" y="1770199"/>
            <a:ext cx="71438" cy="68434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98073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7275" y="1785944"/>
            <a:ext cx="74009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MITIGAÇÃO DO FATOR HUMANO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85850" y="2048805"/>
            <a:ext cx="7400925" cy="40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simulação prática permitiu que usuários identificassem ameaças complexas, reduzindo a vulnerabilidade organizacional através da experiência direta.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28625" y="2540273"/>
            <a:ext cx="8286750" cy="69863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28625" y="2540273"/>
            <a:ext cx="71438" cy="68434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68147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5849" y="2567716"/>
            <a:ext cx="74009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POTENCIAL DE ESCALA CORPORATIVA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85850" y="2818879"/>
            <a:ext cx="7400925" cy="402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artefato apresenta alta viabilidade para ser adotado em processos de integração (onboarding) e treinamentos recorrentes de segurança da informação.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28625" y="3310347"/>
            <a:ext cx="8286750" cy="69863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428625" y="3310347"/>
            <a:ext cx="71438" cy="684349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538221"/>
            <a:ext cx="1714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85850" y="3359061"/>
            <a:ext cx="74009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CONTRIBUIÇÃO ACADÊMICA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085850" y="3588953"/>
            <a:ext cx="7400925" cy="3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da metodologia Design Science Research para o desenvolvimento de Serious Games aplicados à cibersegurança no contexto brasileiro.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28625" y="4342507"/>
            <a:ext cx="8286750" cy="428625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1142583" y="4433707"/>
            <a:ext cx="310749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Objetivos alcançados com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678996" y="4433708"/>
            <a:ext cx="426783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3C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excelência técnica e pedagógica.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00100"/>
            <a:ext cx="9144000" cy="5715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TRABALHOS FUTUROS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357313"/>
            <a:ext cx="150019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969" y="1336157"/>
            <a:ext cx="277568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EXPANSÃO MOBILE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2938" y="1664494"/>
            <a:ext cx="3607594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Desenvolvimento de versão para dispositivos móveis, permitindo treinamentos rápidos e acessíveis em qualquer lugar.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2938" y="2669977"/>
            <a:ext cx="3607594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PORTABILIDADE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79156" y="114300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4679156" y="1143000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357313"/>
            <a:ext cx="200025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649" y="1334214"/>
            <a:ext cx="212364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NOVOS CENÁRIOS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893469" y="1664494"/>
            <a:ext cx="3607594" cy="75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Inclusão de ameaças emergentes como ataques de MFA (Multi-Factor Authentication), Redes Sociais e Deepfakes.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93469" y="2669977"/>
            <a:ext cx="3607594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ATUALIZAÇÃO DE CONTEÚDO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8625" y="3202613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28625" y="3202613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464719"/>
            <a:ext cx="250031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7983" y="3440381"/>
            <a:ext cx="297137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INTELIGÊNCIA ARTIFICIAL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2938" y="3771900"/>
            <a:ext cx="3607594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de IA para geração dinâmica de desafios baseados no desempenho e dificuldades específicas do jogador.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2938" y="4777383"/>
            <a:ext cx="3607594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4671586" y="3213020"/>
            <a:ext cx="4036219" cy="189309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673434" y="3220164"/>
            <a:ext cx="35719" cy="1878806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464719"/>
            <a:ext cx="250031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0656" y="3446402"/>
            <a:ext cx="221012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INTEGRAÇÃO LMS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893469" y="3771900"/>
            <a:ext cx="3607594" cy="101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Conexão direta com plataformas educacionais corporativas (Moodle, Canvas) para rastreamento automático de progresso.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893469" y="4777383"/>
            <a:ext cx="3607594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0A3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ECOSSISTEMA EDUCACIONAL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43000"/>
            <a:ext cx="2658470" cy="258404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8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CONTATO E INFORMAÇÕES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9484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1587698"/>
            <a:ext cx="230128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Gustavo Emanuel Abreu Ribeiro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7381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28688" y="1905595"/>
            <a:ext cx="244685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gustavoabreu4142@gmail.com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25278"/>
            <a:ext cx="214313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28688" y="2223492"/>
            <a:ext cx="221939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Ciência da Computação - UDF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71500" y="2827139"/>
            <a:ext cx="4329113" cy="714375"/>
          </a:xfrm>
          <a:prstGeom prst="rect">
            <a:avLst/>
          </a:prstGeom>
          <a:solidFill>
            <a:srgbClr val="00A3C4">
              <a:alpha val="10000"/>
            </a:srgbClr>
          </a:solidFill>
          <a:ln w="9144">
            <a:solidFill>
              <a:srgbClr val="00A3C4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5"/>
          <p:cNvSpPr/>
          <p:nvPr/>
        </p:nvSpPr>
        <p:spPr>
          <a:xfrm>
            <a:off x="1656012" y="3033355"/>
            <a:ext cx="249644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286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Dúvidas e Perguntas?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71500" y="3929063"/>
            <a:ext cx="4329113" cy="75809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fator humano é o elo mais fraco, mas com educação e ferramentas como o </a:t>
            </a:r>
            <a:r>
              <a:rPr lang="en-US" sz="1200" b="1" i="1" dirty="0">
                <a:solidFill>
                  <a:srgbClr val="0F2862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Login Quest</a:t>
            </a:r>
            <a:r>
              <a:rPr lang="en-US" sz="1400" i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pode se tornar a primeira linha de defesa."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5329238" y="0"/>
            <a:ext cx="3814763" cy="5143500"/>
          </a:xfrm>
          <a:prstGeom prst="rect">
            <a:avLst/>
          </a:prstGeom>
          <a:solidFill>
            <a:srgbClr val="0F28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8"/>
          <p:cNvSpPr/>
          <p:nvPr/>
        </p:nvSpPr>
        <p:spPr>
          <a:xfrm>
            <a:off x="5329238" y="0"/>
            <a:ext cx="71438" cy="5143500"/>
          </a:xfrm>
          <a:prstGeom prst="rect">
            <a:avLst/>
          </a:prstGeom>
          <a:solidFill>
            <a:srgbClr val="00A3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5848945" y="2617291"/>
            <a:ext cx="281820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OBRIGADO!</a:t>
            </a:r>
            <a:endParaRPr lang="en-US" sz="3300" dirty="0"/>
          </a:p>
        </p:txBody>
      </p:sp>
      <p:sp>
        <p:nvSpPr>
          <p:cNvPr id="16" name="Text 10"/>
          <p:cNvSpPr/>
          <p:nvPr/>
        </p:nvSpPr>
        <p:spPr>
          <a:xfrm>
            <a:off x="5698540" y="3309815"/>
            <a:ext cx="314759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3C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Pela atenção e disponibilidade.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1584</Words>
  <Application>Microsoft Office PowerPoint</Application>
  <PresentationFormat>On-screen Show (16:9)</PresentationFormat>
  <Paragraphs>260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Montserrat Bold</vt:lpstr>
      <vt:lpstr>Montserrat Light</vt:lpstr>
      <vt:lpstr>Montserrat SemiBold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Gustavo</cp:lastModifiedBy>
  <cp:revision>4</cp:revision>
  <dcterms:created xsi:type="dcterms:W3CDTF">2026-06-17T02:25:41Z</dcterms:created>
  <dcterms:modified xsi:type="dcterms:W3CDTF">2026-06-18T02:54:39Z</dcterms:modified>
</cp:coreProperties>
</file>