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F6F9"/>
    <a:srgbClr val="0F28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207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38666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jpe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jpe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2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hyperlink" Target="https://gx.games/games/5ash56/login-quest/tracks/1c71bb57-f7eb-41e7-9609-2cead4636d5a/" TargetMode="External"/><Relationship Id="rId4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7" Type="http://schemas.openxmlformats.org/officeDocument/2006/relationships/image" Target="../media/image6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1000125"/>
            <a:ext cx="4457700" cy="4557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29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LOGIN QUEST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428625" y="1598749"/>
            <a:ext cx="4457700" cy="615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00A3C4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Jogo Sério para Conscientização em Cibersegurança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28625" y="2513149"/>
            <a:ext cx="4457700" cy="70544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428625" y="2513149"/>
            <a:ext cx="28575" cy="705445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71500" y="2656024"/>
            <a:ext cx="4171950" cy="276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Gustavo Emanuel Abreu Ribeiro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71500" y="2900697"/>
            <a:ext cx="4171950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Bacharelado em Ciência da Computação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25243" y="1668196"/>
            <a:ext cx="1791295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1200" kern="0" spc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ORIENTADORA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6757401" y="2063941"/>
            <a:ext cx="2159137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1200" dirty="0">
                <a:solidFill>
                  <a:srgbClr val="0F286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Prof. Letícia Toledo Maia Zoby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64409" y="2513149"/>
            <a:ext cx="2752129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1200" kern="0" spc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COORIENTADORA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208896" y="2926737"/>
            <a:ext cx="3707642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1200" dirty="0">
                <a:solidFill>
                  <a:srgbClr val="0F286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Prof. Ma. Kadidja Valéria Reginaldo de Oliveira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513697" y="3458947"/>
            <a:ext cx="3402842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0F2862">
                    <a:alpha val="8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UDF - Centro Universitário do Distrito Federal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788463" y="3718243"/>
            <a:ext cx="887611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0F286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Brasília,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0" y="800100"/>
            <a:ext cx="9144000" cy="57150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428625" y="285750"/>
            <a:ext cx="8286750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b="1" kern="0" spc="2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VULNERABILIDADES E O FATOR HUMANO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28625" y="1143000"/>
            <a:ext cx="4000500" cy="1428750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357313"/>
            <a:ext cx="171450" cy="1714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21543" y="1364456"/>
            <a:ext cx="2080963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CUSTO DE VIOLAÇÃO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2938" y="1635919"/>
            <a:ext cx="357187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A3C4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R$ 6,75 Mi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642938" y="2019895"/>
            <a:ext cx="3571875" cy="402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 médio de uma violação de dados no Brasil em 2024 (IBM).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714875" y="1143000"/>
            <a:ext cx="4000500" cy="1428750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188" y="1357313"/>
            <a:ext cx="171450" cy="1714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207793" y="1364456"/>
            <a:ext cx="1843549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AMEAÇAS PHISHING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929188" y="1635919"/>
            <a:ext cx="357187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A3C4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893 Milhões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929188" y="2019895"/>
            <a:ext cx="3571875" cy="402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Tentativas de phishing bloqueadas pela Kaspersky em 2024 (+26%).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360386" y="4050156"/>
            <a:ext cx="8286750" cy="1000125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2"/>
          <p:cNvSpPr/>
          <p:nvPr/>
        </p:nvSpPr>
        <p:spPr>
          <a:xfrm>
            <a:off x="1350168" y="4399128"/>
            <a:ext cx="7715250" cy="276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i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"O fator humano é realmente o elo mais fraco da segurança."</a:t>
            </a:r>
            <a:endParaRPr lang="en-US" dirty="0"/>
          </a:p>
        </p:txBody>
      </p:sp>
      <p:sp>
        <p:nvSpPr>
          <p:cNvPr id="18" name="Text 13"/>
          <p:cNvSpPr/>
          <p:nvPr/>
        </p:nvSpPr>
        <p:spPr>
          <a:xfrm>
            <a:off x="714375" y="4824539"/>
            <a:ext cx="7715250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buNone/>
            </a:pPr>
            <a:r>
              <a:rPr lang="en-US" sz="1200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 Kevin Mitnick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428624" y="2641581"/>
            <a:ext cx="3852029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Limitações dos Métodos Tradicionais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441157" y="2917220"/>
            <a:ext cx="2619384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Baixo Engajamento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441157" y="3182191"/>
            <a:ext cx="2306592" cy="6848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Palestras e cartilhas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estáticas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geram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desinteresse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pouca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retenção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200" dirty="0"/>
          </a:p>
          <a:p>
            <a:pPr marL="0" indent="0" algn="l">
              <a:buNone/>
            </a:pP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441157" y="3190756"/>
            <a:ext cx="1668066" cy="130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3002506" y="2913128"/>
            <a:ext cx="2619384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Falta de Prática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3000137" y="3181981"/>
            <a:ext cx="2559248" cy="5001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Treinamentos lineares não simulam a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pressão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tomada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decisão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real.</a:t>
            </a:r>
            <a:endParaRPr lang="en-US" sz="1200" dirty="0"/>
          </a:p>
          <a:p>
            <a:pPr marL="0" indent="0" algn="l">
              <a:buNone/>
            </a:pP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3000137" y="3182191"/>
            <a:ext cx="65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5741650" y="2893547"/>
            <a:ext cx="2619384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Feedback Tardio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5762397" y="3230352"/>
            <a:ext cx="2667228" cy="5001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ausência de correção imediata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dificulta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aprendizagem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padrões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200" dirty="0"/>
          </a:p>
          <a:p>
            <a:pPr marL="0" indent="0" algn="l">
              <a:buNone/>
            </a:pP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5762397" y="3182191"/>
            <a:ext cx="1426964" cy="130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0" y="800100"/>
            <a:ext cx="9144000" cy="57150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428625" y="285750"/>
            <a:ext cx="8286750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b="1" kern="0" spc="2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OBJETIVOS DO PROJETO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28625" y="1143000"/>
            <a:ext cx="4000500" cy="3551448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714375" y="1428750"/>
            <a:ext cx="3429000" cy="319959"/>
          </a:xfrm>
          <a:prstGeom prst="rect">
            <a:avLst/>
          </a:prstGeom>
          <a:noFill/>
          <a:ln/>
        </p:spPr>
        <p:txBody>
          <a:bodyPr wrap="square" lIns="0" tIns="0" rIns="0" bIns="42545" rtlCol="0" anchor="t">
            <a:sp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Objetivo Geral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14375" y="1891308"/>
            <a:ext cx="3429000" cy="2181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Desenvolver e avaliar o </a:t>
            </a:r>
            <a:r>
              <a:rPr lang="en-US" sz="1600" b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Login Quest</a:t>
            </a:r>
            <a:r>
              <a:rPr lang="en-US" sz="16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um jogo sério para conscientização em cibersegurança, visando promover a aprendizagem de boas práticas e apoiar a </a:t>
            </a:r>
            <a:r>
              <a:rPr lang="en-US" sz="1600" b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identificação de ameaças</a:t>
            </a:r>
            <a:r>
              <a:rPr lang="en-US" sz="16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relacionadas ao fator humano.</a:t>
            </a:r>
            <a:endParaRPr lang="en-US" sz="16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250" y="3822911"/>
            <a:ext cx="857250" cy="85725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714875" y="1143000"/>
            <a:ext cx="4000500" cy="57150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5023" y="1343025"/>
            <a:ext cx="199551" cy="17145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235894" y="1267529"/>
            <a:ext cx="3479481" cy="3765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Identificar fatores humanos associados a vulnerabilidades digitais.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714875" y="1857375"/>
            <a:ext cx="4000500" cy="57150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922" y="2079427"/>
            <a:ext cx="178203" cy="17145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214547" y="1976863"/>
            <a:ext cx="3322234" cy="3765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Projetar situações simuladas baseadas em aprendizagem ativa e feedback.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4714875" y="2571750"/>
            <a:ext cx="4000500" cy="57150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7555" y="2771775"/>
            <a:ext cx="214313" cy="17145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214547" y="2669211"/>
            <a:ext cx="3286125" cy="3765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Desenvolver versão funcional usando GameMaker, Aseprite e Figma.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4714875" y="3286125"/>
            <a:ext cx="4000500" cy="57150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93469" y="3486150"/>
            <a:ext cx="197848" cy="17145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24369" y="3383586"/>
            <a:ext cx="3302589" cy="3765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Avaliar a efetividade via pré-teste e pós-teste com 30 participantes.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4714875" y="4000500"/>
            <a:ext cx="4000500" cy="57150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8388" y="4200525"/>
            <a:ext cx="214313" cy="17145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5268516" y="4097961"/>
            <a:ext cx="3286125" cy="3765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Analisar percepção de usabilidade, engajamento e utilidade percebida.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0" y="800100"/>
            <a:ext cx="9144000" cy="57150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428625" y="285750"/>
            <a:ext cx="8286750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b="1" kern="0" spc="2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FUNDAMENTAÇÃO TEÓRICA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28625" y="1143000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357313"/>
            <a:ext cx="250031" cy="2000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0125" y="1334214"/>
            <a:ext cx="1792157" cy="2462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SERIOUS GAMES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642937" y="1629342"/>
            <a:ext cx="3607594" cy="12751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Jogos desenvolvidos com um propósito primordial além do puro entretenimento. No contexto do </a:t>
            </a:r>
            <a:r>
              <a:rPr lang="en-US" sz="1200" b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Login Quest</a:t>
            </a: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o foco é a educação e o treinamento em segurança digital através de simulações.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679156" y="1143000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3469" y="1357313"/>
            <a:ext cx="200025" cy="20002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200649" y="1370707"/>
            <a:ext cx="2596771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APRENDIZAGEM ATIVA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4847976" y="1629342"/>
            <a:ext cx="3831999" cy="12751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Metodologia onde o aluno é o protagonista. O conhecimento é construído através da </a:t>
            </a:r>
            <a:r>
              <a:rPr lang="en-US" sz="1200" b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experiência direta</a:t>
            </a: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tomada de decisão e enfrentamento de consequências em ambiente controlado.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28625" y="3184326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8" y="3464719"/>
            <a:ext cx="225028" cy="20002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75122" y="3411908"/>
            <a:ext cx="1566134" cy="2462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GAMIFICAÇÃO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642938" y="3857625"/>
            <a:ext cx="3607594" cy="1016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Aplicação de elementos de design de jogos (pontuação, níveis, desafios) em contextos de não-jogo para aumentar o </a:t>
            </a:r>
            <a:r>
              <a:rPr lang="en-US" sz="1200" b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engajamento</a:t>
            </a: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a motivação dos participantes.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4679156" y="3184326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3469" y="3464719"/>
            <a:ext cx="200025" cy="200025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200650" y="3441620"/>
            <a:ext cx="2337463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FEEDBACK IMEDIATO</a:t>
            </a:r>
            <a:endParaRPr lang="en-US" sz="1600" dirty="0"/>
          </a:p>
        </p:txBody>
      </p:sp>
      <p:sp>
        <p:nvSpPr>
          <p:cNvPr id="21" name="Text 14"/>
          <p:cNvSpPr/>
          <p:nvPr/>
        </p:nvSpPr>
        <p:spPr>
          <a:xfrm>
            <a:off x="4856080" y="3733503"/>
            <a:ext cx="3859295" cy="12751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Elemento crucial para a aprendizagem. A correção ou reforço no momento exato da ação permite que o usuário identifique padrões de </a:t>
            </a:r>
            <a:r>
              <a:rPr lang="en-US" sz="1200" b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ameaças</a:t>
            </a: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consolide boas práticas rapidamente.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0" y="800100"/>
            <a:ext cx="9144000" cy="57150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428625" y="285750"/>
            <a:ext cx="8286750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b="1" kern="0" spc="2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TRABALHOS CORRELATOS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28625" y="1143000"/>
            <a:ext cx="8286750" cy="2051149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7" name="Shape 4"/>
          <p:cNvSpPr/>
          <p:nvPr/>
        </p:nvSpPr>
        <p:spPr>
          <a:xfrm>
            <a:off x="432197" y="1146572"/>
            <a:ext cx="1338672" cy="307181"/>
          </a:xfrm>
          <a:prstGeom prst="rect">
            <a:avLst/>
          </a:prstGeom>
          <a:solidFill>
            <a:srgbClr val="0F2862"/>
          </a:solidFill>
          <a:ln w="9144">
            <a:solidFill>
              <a:srgbClr val="00A3C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432197" y="1146572"/>
            <a:ext cx="1338672" cy="307181"/>
          </a:xfrm>
          <a:prstGeom prst="rect">
            <a:avLst/>
          </a:prstGeom>
          <a:noFill/>
          <a:ln/>
        </p:spPr>
        <p:txBody>
          <a:bodyPr wrap="square" lIns="127508" tIns="170053" rIns="127508" bIns="0" rtlCol="0" anchor="ctr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Projeto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770869" y="1146572"/>
            <a:ext cx="1581894" cy="307181"/>
          </a:xfrm>
          <a:prstGeom prst="rect">
            <a:avLst/>
          </a:prstGeom>
          <a:solidFill>
            <a:srgbClr val="0F2862"/>
          </a:solidFill>
          <a:ln w="9144">
            <a:solidFill>
              <a:srgbClr val="00A3C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1770869" y="1146572"/>
            <a:ext cx="1581894" cy="307181"/>
          </a:xfrm>
          <a:prstGeom prst="rect">
            <a:avLst/>
          </a:prstGeom>
          <a:noFill/>
          <a:ln/>
        </p:spPr>
        <p:txBody>
          <a:bodyPr wrap="square" lIns="127508" tIns="170053" rIns="127508" bIns="0" rtlCol="0" anchor="ctr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Público-Alvo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2763" y="1146572"/>
            <a:ext cx="1949881" cy="307181"/>
          </a:xfrm>
          <a:prstGeom prst="rect">
            <a:avLst/>
          </a:prstGeom>
          <a:solidFill>
            <a:srgbClr val="0F2862"/>
          </a:solidFill>
          <a:ln w="9144">
            <a:solidFill>
              <a:srgbClr val="00A3C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352763" y="1146572"/>
            <a:ext cx="1949881" cy="307181"/>
          </a:xfrm>
          <a:prstGeom prst="rect">
            <a:avLst/>
          </a:prstGeom>
          <a:noFill/>
          <a:ln/>
        </p:spPr>
        <p:txBody>
          <a:bodyPr wrap="square" lIns="127508" tIns="170053" rIns="127508" bIns="0" rtlCol="0" anchor="ctr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Foco Principal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302644" y="1146572"/>
            <a:ext cx="3409159" cy="307181"/>
          </a:xfrm>
          <a:prstGeom prst="rect">
            <a:avLst/>
          </a:prstGeom>
          <a:solidFill>
            <a:srgbClr val="0F2862"/>
          </a:solidFill>
          <a:ln w="9144">
            <a:solidFill>
              <a:srgbClr val="00A3C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5302644" y="1146572"/>
            <a:ext cx="3409159" cy="307181"/>
          </a:xfrm>
          <a:prstGeom prst="rect">
            <a:avLst/>
          </a:prstGeom>
          <a:noFill/>
          <a:ln/>
        </p:spPr>
        <p:txBody>
          <a:bodyPr wrap="square" lIns="127508" tIns="170053" rIns="127508" bIns="0" rtlCol="0" anchor="ctr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Limitação / Diferencial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32197" y="1446609"/>
            <a:ext cx="1338672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Cyber Resistance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770869" y="1446609"/>
            <a:ext cx="1581894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Profissionais de TI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3352763" y="1446609"/>
            <a:ext cx="1949881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Proteção de Infraestrutura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302644" y="1446609"/>
            <a:ext cx="3409159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Visual datado e foco técnico restrito.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32197" y="1716286"/>
            <a:ext cx="1338672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Cyber Defender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770869" y="1716286"/>
            <a:ext cx="1581894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Estudantes de Redes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3352763" y="1716286"/>
            <a:ext cx="1949881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Defesa de Perímetro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302644" y="1716286"/>
            <a:ext cx="3409159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Alta complexidade para usuários leigos.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32197" y="1985963"/>
            <a:ext cx="1338672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Encrypta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770869" y="1985963"/>
            <a:ext cx="1581894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Crianças / Escolar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352763" y="1985963"/>
            <a:ext cx="1949881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Conceitos Básicos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5302644" y="1985963"/>
            <a:ext cx="3409159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Abordagem lúdica sem contexto corporativo.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25053" y="2823568"/>
            <a:ext cx="8279606" cy="367009"/>
          </a:xfrm>
          <a:prstGeom prst="rect">
            <a:avLst/>
          </a:prstGeom>
          <a:solidFill>
            <a:srgbClr val="E5F6F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432197" y="2255639"/>
            <a:ext cx="1338672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Login Quest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1770869" y="2255639"/>
            <a:ext cx="1581894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Usuário Corporativo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3352763" y="2255639"/>
            <a:ext cx="1949881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Fator Humano / SOC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302644" y="2255639"/>
            <a:ext cx="3409159" cy="269677"/>
          </a:xfrm>
          <a:prstGeom prst="rect">
            <a:avLst/>
          </a:prstGeom>
          <a:noFill/>
          <a:ln/>
        </p:spPr>
        <p:txBody>
          <a:bodyPr wrap="square" lIns="127508" tIns="127508" rIns="127508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Simulação realista de rotina e tomada de decisão.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148526" y="3746110"/>
            <a:ext cx="8849615" cy="1111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0"/>
          <p:cNvSpPr/>
          <p:nvPr/>
        </p:nvSpPr>
        <p:spPr>
          <a:xfrm>
            <a:off x="145858" y="3749153"/>
            <a:ext cx="52373" cy="1117446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1"/>
          <p:cNvSpPr/>
          <p:nvPr/>
        </p:nvSpPr>
        <p:spPr>
          <a:xfrm>
            <a:off x="425053" y="3491040"/>
            <a:ext cx="80010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Por que o Login Quest se destaca?</a:t>
            </a:r>
            <a:endParaRPr lang="en-US" sz="1600" dirty="0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819" y="3853915"/>
            <a:ext cx="169959" cy="194238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59498" y="3856129"/>
            <a:ext cx="1370696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Contextualização: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1845294" y="3860118"/>
            <a:ext cx="3441974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Ambientado na empresa fictícia CyProtect.</a:t>
            </a:r>
            <a:endParaRPr lang="en-US" sz="1200" dirty="0"/>
          </a:p>
        </p:txBody>
      </p:sp>
      <p:sp>
        <p:nvSpPr>
          <p:cNvPr id="39" name="Text 34"/>
          <p:cNvSpPr/>
          <p:nvPr/>
        </p:nvSpPr>
        <p:spPr>
          <a:xfrm>
            <a:off x="5141035" y="3850546"/>
            <a:ext cx="743793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Realismo:</a:t>
            </a:r>
            <a:endParaRPr lang="en-US" sz="1200" dirty="0"/>
          </a:p>
        </p:txBody>
      </p:sp>
      <p:sp>
        <p:nvSpPr>
          <p:cNvPr id="40" name="Text 35"/>
          <p:cNvSpPr/>
          <p:nvPr/>
        </p:nvSpPr>
        <p:spPr>
          <a:xfrm>
            <a:off x="5939026" y="3839827"/>
            <a:ext cx="2952155" cy="5001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que simulam sistemas reais (E-mail, Logs, Scanner).</a:t>
            </a:r>
            <a:endParaRPr lang="en-US" sz="1200" dirty="0"/>
          </a:p>
          <a:p>
            <a:pPr marL="0" indent="0" algn="l">
              <a:buNone/>
            </a:pPr>
            <a:endParaRPr lang="en-US" sz="850" dirty="0"/>
          </a:p>
        </p:txBody>
      </p:sp>
      <p:sp>
        <p:nvSpPr>
          <p:cNvPr id="41" name="Text 36"/>
          <p:cNvSpPr/>
          <p:nvPr/>
        </p:nvSpPr>
        <p:spPr>
          <a:xfrm>
            <a:off x="4625578" y="4203204"/>
            <a:ext cx="65" cy="1308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endParaRPr lang="en-US" sz="850" dirty="0"/>
          </a:p>
        </p:txBody>
      </p:sp>
      <p:sp>
        <p:nvSpPr>
          <p:cNvPr id="43" name="Text 37"/>
          <p:cNvSpPr/>
          <p:nvPr/>
        </p:nvSpPr>
        <p:spPr>
          <a:xfrm>
            <a:off x="493012" y="4412016"/>
            <a:ext cx="759823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Feedback</a:t>
            </a:r>
            <a:r>
              <a:rPr lang="en-US" sz="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</a:t>
            </a:r>
            <a:endParaRPr lang="en-US" sz="800" dirty="0"/>
          </a:p>
        </p:txBody>
      </p:sp>
      <p:sp>
        <p:nvSpPr>
          <p:cNvPr id="44" name="Text 38"/>
          <p:cNvSpPr/>
          <p:nvPr/>
        </p:nvSpPr>
        <p:spPr>
          <a:xfrm>
            <a:off x="1277204" y="4415777"/>
            <a:ext cx="2768203" cy="3693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Explicações pedagógicas imediatas para cada ação.</a:t>
            </a:r>
            <a:endParaRPr lang="en-US" sz="1200" dirty="0"/>
          </a:p>
        </p:txBody>
      </p:sp>
      <p:sp>
        <p:nvSpPr>
          <p:cNvPr id="46" name="Text 39"/>
          <p:cNvSpPr/>
          <p:nvPr/>
        </p:nvSpPr>
        <p:spPr>
          <a:xfrm>
            <a:off x="5154999" y="4444150"/>
            <a:ext cx="1122102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Acessibilidade</a:t>
            </a:r>
            <a:r>
              <a:rPr lang="en-US" sz="800" b="1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</a:t>
            </a:r>
            <a:endParaRPr lang="en-US" sz="800" dirty="0"/>
          </a:p>
        </p:txBody>
      </p:sp>
      <p:sp>
        <p:nvSpPr>
          <p:cNvPr id="47" name="Text 40"/>
          <p:cNvSpPr/>
          <p:nvPr/>
        </p:nvSpPr>
        <p:spPr>
          <a:xfrm>
            <a:off x="6313117" y="4444150"/>
            <a:ext cx="2482453" cy="3693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Linguagem clara para não-especialistas em TI.</a:t>
            </a:r>
            <a:endParaRPr lang="en-US" sz="1200" dirty="0"/>
          </a:p>
        </p:txBody>
      </p:sp>
      <p:graphicFrame>
        <p:nvGraphicFramePr>
          <p:cNvPr id="48" name="Table 47">
            <a:extLst>
              <a:ext uri="{FF2B5EF4-FFF2-40B4-BE49-F238E27FC236}">
                <a16:creationId xmlns:a16="http://schemas.microsoft.com/office/drawing/2014/main" id="{393A3FD4-A59F-E84C-3527-5FB2D11D99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97028"/>
              </p:ext>
            </p:extLst>
          </p:nvPr>
        </p:nvGraphicFramePr>
        <p:xfrm>
          <a:off x="65660" y="915632"/>
          <a:ext cx="8982804" cy="2517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5701">
                  <a:extLst>
                    <a:ext uri="{9D8B030D-6E8A-4147-A177-3AD203B41FA5}">
                      <a16:colId xmlns:a16="http://schemas.microsoft.com/office/drawing/2014/main" val="3441308159"/>
                    </a:ext>
                  </a:extLst>
                </a:gridCol>
                <a:gridCol w="2245701">
                  <a:extLst>
                    <a:ext uri="{9D8B030D-6E8A-4147-A177-3AD203B41FA5}">
                      <a16:colId xmlns:a16="http://schemas.microsoft.com/office/drawing/2014/main" val="2673499446"/>
                    </a:ext>
                  </a:extLst>
                </a:gridCol>
                <a:gridCol w="2245701">
                  <a:extLst>
                    <a:ext uri="{9D8B030D-6E8A-4147-A177-3AD203B41FA5}">
                      <a16:colId xmlns:a16="http://schemas.microsoft.com/office/drawing/2014/main" val="3845759515"/>
                    </a:ext>
                  </a:extLst>
                </a:gridCol>
                <a:gridCol w="2245701">
                  <a:extLst>
                    <a:ext uri="{9D8B030D-6E8A-4147-A177-3AD203B41FA5}">
                      <a16:colId xmlns:a16="http://schemas.microsoft.com/office/drawing/2014/main" val="1706826061"/>
                    </a:ext>
                  </a:extLst>
                </a:gridCol>
              </a:tblGrid>
              <a:tr h="457341">
                <a:tc>
                  <a:txBody>
                    <a:bodyPr/>
                    <a:lstStyle/>
                    <a:p>
                      <a:r>
                        <a:rPr lang="en-US" sz="1600" b="1" dirty="0" err="1">
                          <a:solidFill>
                            <a:srgbClr val="FFFFFF"/>
                          </a:solidFill>
                          <a:latin typeface="Montserrat Bold" pitchFamily="34" charset="0"/>
                          <a:ea typeface="Montserrat Bold" pitchFamily="34" charset="-122"/>
                          <a:cs typeface="Montserrat Bold" pitchFamily="34" charset="-120"/>
                        </a:rPr>
                        <a:t>Projeto</a:t>
                      </a:r>
                      <a:endParaRPr lang="pt-BR" sz="1600" dirty="0"/>
                    </a:p>
                  </a:txBody>
                  <a:tcPr>
                    <a:solidFill>
                      <a:srgbClr val="0F28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ontserrat Bold" pitchFamily="34" charset="0"/>
                          <a:ea typeface="Montserrat Bold" pitchFamily="34" charset="-122"/>
                          <a:cs typeface="Montserrat Bold" pitchFamily="34" charset="-120"/>
                        </a:rPr>
                        <a:t>Público-Alvo</a:t>
                      </a:r>
                      <a:endParaRPr lang="pt-BR" sz="1600" dirty="0"/>
                    </a:p>
                  </a:txBody>
                  <a:tcPr>
                    <a:solidFill>
                      <a:srgbClr val="0F286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ontserrat Bold" pitchFamily="34" charset="0"/>
                          <a:ea typeface="Montserrat Bold" pitchFamily="34" charset="-122"/>
                          <a:cs typeface="Montserrat Bold" pitchFamily="34" charset="-120"/>
                        </a:rPr>
                        <a:t>Foco Principal</a:t>
                      </a:r>
                      <a:endParaRPr lang="en-US" sz="1600" dirty="0"/>
                    </a:p>
                  </a:txBody>
                  <a:tcPr>
                    <a:solidFill>
                      <a:srgbClr val="0F286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solidFill>
                            <a:srgbClr val="FFFFFF"/>
                          </a:solidFill>
                          <a:latin typeface="Montserrat Bold" pitchFamily="34" charset="0"/>
                          <a:ea typeface="Montserrat Bold" pitchFamily="34" charset="-122"/>
                          <a:cs typeface="Montserrat Bold" pitchFamily="34" charset="-120"/>
                        </a:rPr>
                        <a:t>Limitação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 Bold" pitchFamily="34" charset="0"/>
                          <a:ea typeface="Montserrat Bold" pitchFamily="34" charset="-122"/>
                          <a:cs typeface="Montserrat Bold" pitchFamily="34" charset="-120"/>
                        </a:rPr>
                        <a:t> / </a:t>
                      </a:r>
                      <a:r>
                        <a:rPr lang="en-US" sz="1200" b="1" dirty="0" err="1">
                          <a:solidFill>
                            <a:srgbClr val="FFFFFF"/>
                          </a:solidFill>
                          <a:latin typeface="Montserrat Bold" pitchFamily="34" charset="0"/>
                          <a:ea typeface="Montserrat Bold" pitchFamily="34" charset="-122"/>
                          <a:cs typeface="Montserrat Bold" pitchFamily="34" charset="-120"/>
                        </a:rPr>
                        <a:t>Diferencial</a:t>
                      </a:r>
                      <a:endParaRPr lang="en-US" sz="1200" dirty="0"/>
                    </a:p>
                  </a:txBody>
                  <a:tcPr>
                    <a:solidFill>
                      <a:srgbClr val="0F28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854177"/>
                  </a:ext>
                </a:extLst>
              </a:tr>
              <a:tr h="4769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Cyber Resistance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Profissionais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de TI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Proteção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de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Infraestrutura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Visual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datado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e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foco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técnico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restrito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.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0062547"/>
                  </a:ext>
                </a:extLst>
              </a:tr>
              <a:tr h="4769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Cyber Defender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Estudantes de Redes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Defesa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de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Perímetro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Alta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complexidade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para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usuários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leigos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.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143016"/>
                  </a:ext>
                </a:extLst>
              </a:tr>
              <a:tr h="476947">
                <a:tc>
                  <a:txBody>
                    <a:bodyPr/>
                    <a:lstStyle/>
                    <a:p>
                      <a:pPr algn="l"/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Encrypta</a:t>
                      </a:r>
                      <a:endParaRPr lang="pt-BR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Crianças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/ Escolar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Conceitos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Básicos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Abordagem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lúdica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sem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contexto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corporativo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.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5957229"/>
                  </a:ext>
                </a:extLst>
              </a:tr>
              <a:tr h="6288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dirty="0">
                          <a:solidFill>
                            <a:srgbClr val="00A3C4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Login Quest</a:t>
                      </a:r>
                      <a:endParaRPr lang="en-US" sz="1100" dirty="0"/>
                    </a:p>
                  </a:txBody>
                  <a:tcPr>
                    <a:solidFill>
                      <a:srgbClr val="E5F6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Usuário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Corporativo</a:t>
                      </a:r>
                      <a:endParaRPr lang="en-US" sz="1100" dirty="0"/>
                    </a:p>
                  </a:txBody>
                  <a:tcPr>
                    <a:solidFill>
                      <a:srgbClr val="E5F6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Fator Humano / SOC</a:t>
                      </a:r>
                      <a:endParaRPr lang="en-US" sz="1100" dirty="0"/>
                    </a:p>
                  </a:txBody>
                  <a:tcPr>
                    <a:solidFill>
                      <a:srgbClr val="E5F6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Simulação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realista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de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rotina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e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tomada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 de </a:t>
                      </a:r>
                      <a:r>
                        <a:rPr lang="en-US" sz="1100" dirty="0" err="1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decisão</a:t>
                      </a:r>
                      <a:r>
                        <a:rPr lang="en-US" sz="1100" dirty="0">
                          <a:solidFill>
                            <a:srgbClr val="333333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.</a:t>
                      </a:r>
                      <a:endParaRPr lang="en-US" sz="1100" dirty="0"/>
                    </a:p>
                  </a:txBody>
                  <a:tcPr>
                    <a:solidFill>
                      <a:srgbClr val="E5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1084761"/>
                  </a:ext>
                </a:extLst>
              </a:tr>
            </a:tbl>
          </a:graphicData>
        </a:graphic>
      </p:graphicFrame>
      <p:pic>
        <p:nvPicPr>
          <p:cNvPr id="50" name="Image 1" descr="preencoded.png">
            <a:extLst>
              <a:ext uri="{FF2B5EF4-FFF2-40B4-BE49-F238E27FC236}">
                <a16:creationId xmlns:a16="http://schemas.microsoft.com/office/drawing/2014/main" id="{622300C4-0451-22DA-8F48-E706597176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110" y="3850546"/>
            <a:ext cx="169959" cy="194238"/>
          </a:xfrm>
          <a:prstGeom prst="rect">
            <a:avLst/>
          </a:prstGeom>
        </p:spPr>
      </p:pic>
      <p:pic>
        <p:nvPicPr>
          <p:cNvPr id="52" name="Image 1" descr="preencoded.png">
            <a:extLst>
              <a:ext uri="{FF2B5EF4-FFF2-40B4-BE49-F238E27FC236}">
                <a16:creationId xmlns:a16="http://schemas.microsoft.com/office/drawing/2014/main" id="{6089BE13-5B68-5748-AAB3-9F95C85DA7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109" y="4412016"/>
            <a:ext cx="169959" cy="194238"/>
          </a:xfrm>
          <a:prstGeom prst="rect">
            <a:avLst/>
          </a:prstGeom>
        </p:spPr>
      </p:pic>
      <p:pic>
        <p:nvPicPr>
          <p:cNvPr id="54" name="Image 1" descr="preencoded.png">
            <a:extLst>
              <a:ext uri="{FF2B5EF4-FFF2-40B4-BE49-F238E27FC236}">
                <a16:creationId xmlns:a16="http://schemas.microsoft.com/office/drawing/2014/main" id="{E6D238EA-4441-8DEF-48BF-1BAE8700BE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9024" y="4448423"/>
            <a:ext cx="169959" cy="1942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0" y="800100"/>
            <a:ext cx="9144000" cy="57150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428625" y="285750"/>
            <a:ext cx="8286750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b="1" kern="0" spc="2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DIFERENCIAIS DO LOGIN QUEST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28625" y="1143000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642938" y="1357313"/>
            <a:ext cx="571500" cy="57150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953" y="1514475"/>
            <a:ext cx="321469" cy="2571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39453" y="1308284"/>
            <a:ext cx="28575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SIMULAÇÃO DE SOC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339453" y="1552303"/>
            <a:ext cx="2857500" cy="12751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jogador assume o papel real de um analista de segurança na empresa CyProtect, lidando com ferramentas e protocolos corporativos autênticos.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679156" y="1143000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8"/>
          <p:cNvSpPr/>
          <p:nvPr/>
        </p:nvSpPr>
        <p:spPr>
          <a:xfrm>
            <a:off x="4893469" y="1357313"/>
            <a:ext cx="571500" cy="57150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0631" y="1514475"/>
            <a:ext cx="257175" cy="25717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22118" y="1317248"/>
            <a:ext cx="285750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FLUXO CONTÍNUO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5522118" y="1563469"/>
            <a:ext cx="3039578" cy="1016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Diferente de quizzes estáticos, o jogo apresenta um fluxo de trabalho dinâmico que simula a pressão e o volume de decisões do dia a dia.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28625" y="3155751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2"/>
          <p:cNvSpPr/>
          <p:nvPr/>
        </p:nvSpPr>
        <p:spPr>
          <a:xfrm>
            <a:off x="574699" y="3336131"/>
            <a:ext cx="571500" cy="57150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166" y="3493293"/>
            <a:ext cx="257175" cy="25717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71214" y="3305007"/>
            <a:ext cx="3241646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DIVERSIDADE DE AMEAÇAS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1271213" y="3618334"/>
            <a:ext cx="2979317" cy="1016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Aborda múltiplos vetores: phishing por e-mail, anexos maliciosos, engenharia social via chat interno e análise de logs de acesso.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4679156" y="3155751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6"/>
          <p:cNvSpPr/>
          <p:nvPr/>
        </p:nvSpPr>
        <p:spPr>
          <a:xfrm>
            <a:off x="4856542" y="3336131"/>
            <a:ext cx="571500" cy="57150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1557" y="3471862"/>
            <a:ext cx="321469" cy="257175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517338" y="3341499"/>
            <a:ext cx="3139892" cy="276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FEEDBACK PEDAGÓGICO</a:t>
            </a:r>
            <a:endParaRPr lang="en-US" dirty="0"/>
          </a:p>
        </p:txBody>
      </p:sp>
      <p:sp>
        <p:nvSpPr>
          <p:cNvPr id="25" name="Text 18"/>
          <p:cNvSpPr/>
          <p:nvPr/>
        </p:nvSpPr>
        <p:spPr>
          <a:xfrm>
            <a:off x="5522118" y="3694998"/>
            <a:ext cx="3039578" cy="12751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 de relatórios finais que não apenas pontuam, mas explicam detalhadamente os riscos identificados e as boas práticas ignoradas.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0" y="800100"/>
            <a:ext cx="9144000" cy="57150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428625" y="285750"/>
            <a:ext cx="8286750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b="1" kern="0" spc="2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ARQUITETURA DO SISTEMA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28625" y="1143000"/>
            <a:ext cx="4036219" cy="1753791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357313"/>
            <a:ext cx="225028" cy="2000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25116" y="1327189"/>
            <a:ext cx="3275409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INTERFACE (UI/UX)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495716" y="1750219"/>
            <a:ext cx="3912511" cy="12545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1450" indent="-17145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Simulação de ambiente operacional corporativo (SOC).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Prototipagem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alta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fidelidade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no Figma.</a:t>
            </a:r>
            <a:endParaRPr lang="en-US" sz="1200" dirty="0"/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Layout multi-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janelas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para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imersão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do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analista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200" dirty="0"/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Design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focado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clareza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tomada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decisão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200" dirty="0"/>
          </a:p>
          <a:p>
            <a:pPr marL="0" indent="0" algn="l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642938" y="1993106"/>
            <a:ext cx="65" cy="1465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642938" y="2221706"/>
            <a:ext cx="65" cy="1465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642938" y="2450306"/>
            <a:ext cx="65" cy="1465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679156" y="1143000"/>
            <a:ext cx="4036219" cy="1753791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3469" y="1357313"/>
            <a:ext cx="250031" cy="20002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25653" y="1304214"/>
            <a:ext cx="2669595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LÓGICA DO JOGO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4893469" y="1750219"/>
            <a:ext cx="3377912" cy="8714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71450" indent="-17145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Motor de execução e controle de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estados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Desenvolvido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GameMaker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Studio.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Scripts GML para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gerenciamento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eventos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200" dirty="0"/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 de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progressão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dias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4893469" y="1993106"/>
            <a:ext cx="65" cy="1465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4893469" y="2221706"/>
            <a:ext cx="65" cy="1465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4893469" y="2450306"/>
            <a:ext cx="65" cy="1465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28625" y="3111103"/>
            <a:ext cx="4036219" cy="1753791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8" y="3325416"/>
            <a:ext cx="175022" cy="2000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5115" y="3291602"/>
            <a:ext cx="2700337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DADOS E CONTEÚDO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42938" y="3718322"/>
            <a:ext cx="3441776" cy="11898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71450" indent="-17145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Estruturas de armazenamento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interno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Base de dados JSON para e-mails 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diálogos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Manual de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protocolos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base de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funcionários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200" dirty="0"/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Geração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dinâmica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evidências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 logs.</a:t>
            </a:r>
            <a:endParaRPr lang="en-US" sz="1200" dirty="0"/>
          </a:p>
          <a:p>
            <a:pPr>
              <a:lnSpc>
                <a:spcPct val="120000"/>
              </a:lnSpc>
            </a:pPr>
            <a:endParaRPr lang="en-US" sz="850" dirty="0"/>
          </a:p>
          <a:p>
            <a:pPr marL="0" indent="0" algn="l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24" name="Text 18"/>
          <p:cNvSpPr/>
          <p:nvPr/>
        </p:nvSpPr>
        <p:spPr>
          <a:xfrm>
            <a:off x="642938" y="3961209"/>
            <a:ext cx="65" cy="1465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25" name="Text 19"/>
          <p:cNvSpPr/>
          <p:nvPr/>
        </p:nvSpPr>
        <p:spPr>
          <a:xfrm>
            <a:off x="642938" y="4189809"/>
            <a:ext cx="65" cy="1465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642938" y="4418409"/>
            <a:ext cx="65" cy="1465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27" name="Shape 21"/>
          <p:cNvSpPr/>
          <p:nvPr/>
        </p:nvSpPr>
        <p:spPr>
          <a:xfrm>
            <a:off x="4679156" y="3111103"/>
            <a:ext cx="4036219" cy="1753791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3469" y="3325416"/>
            <a:ext cx="225028" cy="20002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225652" y="3302250"/>
            <a:ext cx="3445226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AVALIAÇÃO E FEEDBACK</a:t>
            </a:r>
            <a:endParaRPr lang="en-US" sz="1600" dirty="0"/>
          </a:p>
        </p:txBody>
      </p:sp>
      <p:sp>
        <p:nvSpPr>
          <p:cNvPr id="30" name="Text 23"/>
          <p:cNvSpPr/>
          <p:nvPr/>
        </p:nvSpPr>
        <p:spPr>
          <a:xfrm>
            <a:off x="4893469" y="3718322"/>
            <a:ext cx="3477170" cy="10329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71450" indent="-171450"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Mecanismo de mensuração de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aprendizagem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Cálculo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pontuação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baseado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precisão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200" dirty="0"/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Relatórios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pedagógicos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final de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cada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dia.</a:t>
            </a:r>
            <a:endParaRPr lang="en-US" sz="1200" dirty="0"/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Feedback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imediato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para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correção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</a:t>
            </a:r>
            <a:r>
              <a:rPr lang="en-US" sz="1200" dirty="0" err="1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padrões</a:t>
            </a: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200" dirty="0"/>
          </a:p>
          <a:p>
            <a:pPr marL="0" indent="0" algn="l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31" name="Text 24"/>
          <p:cNvSpPr/>
          <p:nvPr/>
        </p:nvSpPr>
        <p:spPr>
          <a:xfrm>
            <a:off x="4893469" y="3961209"/>
            <a:ext cx="65" cy="1465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32" name="Text 25"/>
          <p:cNvSpPr/>
          <p:nvPr/>
        </p:nvSpPr>
        <p:spPr>
          <a:xfrm>
            <a:off x="4893469" y="4189809"/>
            <a:ext cx="65" cy="1465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33" name="Text 26"/>
          <p:cNvSpPr/>
          <p:nvPr/>
        </p:nvSpPr>
        <p:spPr>
          <a:xfrm>
            <a:off x="4893469" y="4418409"/>
            <a:ext cx="65" cy="1465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endParaRPr lang="en-US" sz="850" dirty="0"/>
          </a:p>
        </p:txBody>
      </p:sp>
      <p:sp>
        <p:nvSpPr>
          <p:cNvPr id="34" name="Text 27"/>
          <p:cNvSpPr/>
          <p:nvPr/>
        </p:nvSpPr>
        <p:spPr>
          <a:xfrm>
            <a:off x="0" y="4864894"/>
            <a:ext cx="9144000" cy="278606"/>
          </a:xfrm>
          <a:prstGeom prst="rect">
            <a:avLst/>
          </a:prstGeom>
          <a:noFill/>
          <a:ln/>
        </p:spPr>
        <p:txBody>
          <a:bodyPr wrap="square" lIns="510286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i="1" dirty="0">
                <a:solidFill>
                  <a:srgbClr val="71809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Estrutura modular baseada na metodologia Design Science Research (DSR).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9558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0" y="800100"/>
            <a:ext cx="9144000" cy="57150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428625" y="285750"/>
            <a:ext cx="8286750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b="1" kern="0" spc="2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MÓDULOS FUNCIONAIS: FERRAMENTAS DO ANALISTA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28625" y="1143000"/>
            <a:ext cx="2643188" cy="1910953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428625" y="1143000"/>
            <a:ext cx="35719" cy="1896666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219" y="1321594"/>
            <a:ext cx="171450" cy="17145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32247" y="1284208"/>
            <a:ext cx="2293144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E-MAIL &amp; INSPEÇÃO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607219" y="1600200"/>
            <a:ext cx="2286000" cy="95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Interface para análise de remetentes, links suspeitos e corpo da mensagem em busca de phishing.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07219" y="2692766"/>
            <a:ext cx="2286000" cy="28264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kern="0" spc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COMUNICAÇÃO EXTERNA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250406" y="1143000"/>
            <a:ext cx="2643188" cy="1910953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9"/>
          <p:cNvSpPr/>
          <p:nvPr/>
        </p:nvSpPr>
        <p:spPr>
          <a:xfrm>
            <a:off x="3250406" y="1143000"/>
            <a:ext cx="35719" cy="1896666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1321594"/>
            <a:ext cx="150019" cy="17145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21881" y="1290742"/>
            <a:ext cx="2778920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MANUAL DE PROTOCOLOS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3429000" y="1600200"/>
            <a:ext cx="2286000" cy="1193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Guia de referência com as políticas de segurança da CyProtect para consulta durante a tomada de decisão.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3411140" y="2727854"/>
            <a:ext cx="2286000" cy="28264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kern="0" spc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BASE DE CONHECIMENTO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072188" y="1143000"/>
            <a:ext cx="2643188" cy="1910953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4"/>
          <p:cNvSpPr/>
          <p:nvPr/>
        </p:nvSpPr>
        <p:spPr>
          <a:xfrm>
            <a:off x="6072188" y="1143000"/>
            <a:ext cx="35719" cy="1896666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0781" y="1321594"/>
            <a:ext cx="214313" cy="17145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543675" y="1299597"/>
            <a:ext cx="2107405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BASE DE FUNCIONÁRIOS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6250781" y="1600200"/>
            <a:ext cx="2286000" cy="95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Consulta de dados internos para validar se solicitações de acesso partem de colaboradores legítimos.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6248729" y="2726652"/>
            <a:ext cx="2286000" cy="28264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kern="0" spc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VALIDAÇÃO DE IDENTIDADE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28625" y="3161109"/>
            <a:ext cx="2643188" cy="1910953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19"/>
          <p:cNvSpPr/>
          <p:nvPr/>
        </p:nvSpPr>
        <p:spPr>
          <a:xfrm>
            <a:off x="428625" y="3161109"/>
            <a:ext cx="35719" cy="1896666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219" y="3411141"/>
            <a:ext cx="171450" cy="17145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85824" y="3418284"/>
            <a:ext cx="1843727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SCANNER DE ANEXOS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607219" y="3689747"/>
            <a:ext cx="2286000" cy="1193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 técnica para análise de arquivos recebidos, identificando extensões e conteúdos maliciosos.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600769" y="4749238"/>
            <a:ext cx="2286000" cy="28264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kern="0" spc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TÉCNICA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3250405" y="3171095"/>
            <a:ext cx="2643188" cy="1910953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4"/>
          <p:cNvSpPr/>
          <p:nvPr/>
        </p:nvSpPr>
        <p:spPr>
          <a:xfrm>
            <a:off x="3256856" y="3168252"/>
            <a:ext cx="35719" cy="1896666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411141"/>
            <a:ext cx="192881" cy="17145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729038" y="3418284"/>
            <a:ext cx="1914526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TERMINAL DE LOGS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3429000" y="3689747"/>
            <a:ext cx="2286000" cy="1193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Monitoramento de acessos ao sistema, permitindo identificar tentativas de login indevidas ou anomalias.</a:t>
            </a:r>
            <a:endParaRPr lang="en-US" sz="1400" dirty="0"/>
          </a:p>
        </p:txBody>
      </p:sp>
      <p:sp>
        <p:nvSpPr>
          <p:cNvPr id="35" name="Text 27"/>
          <p:cNvSpPr/>
          <p:nvPr/>
        </p:nvSpPr>
        <p:spPr>
          <a:xfrm>
            <a:off x="3429000" y="4774370"/>
            <a:ext cx="2286000" cy="28264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kern="0" spc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MONITORAMENTO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6072188" y="3169890"/>
            <a:ext cx="2643188" cy="1910953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29"/>
          <p:cNvSpPr/>
          <p:nvPr/>
        </p:nvSpPr>
        <p:spPr>
          <a:xfrm>
            <a:off x="6072188" y="3168252"/>
            <a:ext cx="35719" cy="1896666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0781" y="3411141"/>
            <a:ext cx="214313" cy="17145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6572249" y="3418284"/>
            <a:ext cx="2181189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CHAT &amp; RELATÓRIO</a:t>
            </a:r>
            <a:endParaRPr lang="en-US" sz="1200" dirty="0"/>
          </a:p>
        </p:txBody>
      </p:sp>
      <p:sp>
        <p:nvSpPr>
          <p:cNvPr id="40" name="Text 31"/>
          <p:cNvSpPr/>
          <p:nvPr/>
        </p:nvSpPr>
        <p:spPr>
          <a:xfrm>
            <a:off x="6250781" y="3689747"/>
            <a:ext cx="2286000" cy="95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Interação com a equipe via chat interno e geração de relatório final para prestação de contas do dia.</a:t>
            </a:r>
            <a:endParaRPr lang="en-US" sz="1400" dirty="0"/>
          </a:p>
        </p:txBody>
      </p:sp>
      <p:sp>
        <p:nvSpPr>
          <p:cNvPr id="41" name="Text 32"/>
          <p:cNvSpPr/>
          <p:nvPr/>
        </p:nvSpPr>
        <p:spPr>
          <a:xfrm>
            <a:off x="6248729" y="4731032"/>
            <a:ext cx="2286000" cy="28264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kern="0" spc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FEEDBACK &amp; GESTÃO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0" y="800100"/>
            <a:ext cx="9144000" cy="57150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428625" y="285750"/>
            <a:ext cx="8286750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b="1" kern="0" spc="2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FLUXO DE APRENDIZAGEM: CICLO DE DECISÃO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285750" y="1428750"/>
            <a:ext cx="1285875" cy="1769375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285750" y="1428750"/>
            <a:ext cx="1271588" cy="35719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388" y="1607344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48951" y="1883450"/>
            <a:ext cx="1008374" cy="3693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RECEBER TAREFA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00038" y="2300288"/>
            <a:ext cx="1271587" cy="7606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Novos inputs do sistema: e-mails, chats ou chamados.</a:t>
            </a:r>
            <a:endParaRPr lang="en-US" sz="12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3772" y="2128838"/>
            <a:ext cx="107156" cy="17145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743075" y="1428750"/>
            <a:ext cx="1285875" cy="1769375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8"/>
          <p:cNvSpPr/>
          <p:nvPr/>
        </p:nvSpPr>
        <p:spPr>
          <a:xfrm>
            <a:off x="1743075" y="1428750"/>
            <a:ext cx="1271588" cy="35719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1713" y="1607344"/>
            <a:ext cx="228600" cy="2286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781540" y="1901310"/>
            <a:ext cx="1172401" cy="3693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ANALISAR EVIDÊNCIAS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1850231" y="2300288"/>
            <a:ext cx="1071563" cy="7606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Identificação de sinais de alerta e anomalias.</a:t>
            </a:r>
            <a:endParaRPr lang="en-US" sz="12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1097" y="2128838"/>
            <a:ext cx="107156" cy="17145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3200400" y="1428750"/>
            <a:ext cx="1285875" cy="1769375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2"/>
          <p:cNvSpPr/>
          <p:nvPr/>
        </p:nvSpPr>
        <p:spPr>
          <a:xfrm>
            <a:off x="3200400" y="1428750"/>
            <a:ext cx="1271588" cy="35719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1607344"/>
            <a:ext cx="257175" cy="2286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228975" y="1879465"/>
            <a:ext cx="1243013" cy="3693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CONSULTAR FERRAMENTAS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3307556" y="2300288"/>
            <a:ext cx="1071563" cy="7606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Uso do manual, scanner e base de dados.</a:t>
            </a:r>
            <a:endParaRPr lang="en-US" sz="120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8422" y="2128838"/>
            <a:ext cx="107156" cy="17145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4657725" y="1428750"/>
            <a:ext cx="1285875" cy="1769375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16"/>
          <p:cNvSpPr/>
          <p:nvPr/>
        </p:nvSpPr>
        <p:spPr>
          <a:xfrm>
            <a:off x="4657725" y="1428750"/>
            <a:ext cx="1271588" cy="35719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6363" y="1607344"/>
            <a:ext cx="228600" cy="22860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4960025" y="1993643"/>
            <a:ext cx="681277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DECIDIR</a:t>
            </a:r>
            <a:endParaRPr lang="en-US" sz="1200" dirty="0"/>
          </a:p>
        </p:txBody>
      </p:sp>
      <p:sp>
        <p:nvSpPr>
          <p:cNvPr id="28" name="Text 18"/>
          <p:cNvSpPr/>
          <p:nvPr/>
        </p:nvSpPr>
        <p:spPr>
          <a:xfrm>
            <a:off x="4764881" y="2300288"/>
            <a:ext cx="1071563" cy="568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Classificar como Seguro ou Ameaça.</a:t>
            </a:r>
            <a:endParaRPr lang="en-US" sz="1200" dirty="0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5747" y="2128838"/>
            <a:ext cx="107156" cy="171450"/>
          </a:xfrm>
          <a:prstGeom prst="rect">
            <a:avLst/>
          </a:prstGeom>
        </p:spPr>
      </p:pic>
      <p:sp>
        <p:nvSpPr>
          <p:cNvPr id="30" name="Shape 19"/>
          <p:cNvSpPr/>
          <p:nvPr/>
        </p:nvSpPr>
        <p:spPr>
          <a:xfrm>
            <a:off x="6115050" y="1428750"/>
            <a:ext cx="1285875" cy="1769375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0"/>
          <p:cNvSpPr/>
          <p:nvPr/>
        </p:nvSpPr>
        <p:spPr>
          <a:xfrm>
            <a:off x="6115050" y="1428750"/>
            <a:ext cx="1271588" cy="35719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43688" y="1607344"/>
            <a:ext cx="228600" cy="228600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6312353" y="1993643"/>
            <a:ext cx="891270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FEEDBACK</a:t>
            </a:r>
            <a:endParaRPr lang="en-US" sz="1050" dirty="0"/>
          </a:p>
        </p:txBody>
      </p:sp>
      <p:sp>
        <p:nvSpPr>
          <p:cNvPr id="34" name="Text 22"/>
          <p:cNvSpPr/>
          <p:nvPr/>
        </p:nvSpPr>
        <p:spPr>
          <a:xfrm>
            <a:off x="6222206" y="2300288"/>
            <a:ext cx="1071563" cy="7606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Explicação imediata sobre o acerto ou erro.</a:t>
            </a:r>
            <a:endParaRPr lang="en-US" sz="1200" dirty="0"/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3072" y="2128838"/>
            <a:ext cx="107156" cy="171450"/>
          </a:xfrm>
          <a:prstGeom prst="rect">
            <a:avLst/>
          </a:prstGeom>
        </p:spPr>
      </p:pic>
      <p:sp>
        <p:nvSpPr>
          <p:cNvPr id="36" name="Shape 23"/>
          <p:cNvSpPr/>
          <p:nvPr/>
        </p:nvSpPr>
        <p:spPr>
          <a:xfrm>
            <a:off x="7572375" y="1428750"/>
            <a:ext cx="1285875" cy="1769375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24"/>
          <p:cNvSpPr/>
          <p:nvPr/>
        </p:nvSpPr>
        <p:spPr>
          <a:xfrm>
            <a:off x="7572375" y="1428750"/>
            <a:ext cx="1271588" cy="35719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9588" y="1607344"/>
            <a:ext cx="171450" cy="228600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7757655" y="1993643"/>
            <a:ext cx="915315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APRENDER</a:t>
            </a:r>
            <a:endParaRPr lang="en-US" sz="1050" dirty="0"/>
          </a:p>
        </p:txBody>
      </p:sp>
      <p:sp>
        <p:nvSpPr>
          <p:cNvPr id="40" name="Text 26"/>
          <p:cNvSpPr/>
          <p:nvPr/>
        </p:nvSpPr>
        <p:spPr>
          <a:xfrm>
            <a:off x="7679531" y="2300288"/>
            <a:ext cx="1071563" cy="7606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Consolidação do padrão para novos desafios.</a:t>
            </a:r>
            <a:endParaRPr lang="en-US" sz="1200" dirty="0"/>
          </a:p>
        </p:txBody>
      </p:sp>
      <p:sp>
        <p:nvSpPr>
          <p:cNvPr id="41" name="Shape 27"/>
          <p:cNvSpPr/>
          <p:nvPr/>
        </p:nvSpPr>
        <p:spPr>
          <a:xfrm>
            <a:off x="285750" y="3429000"/>
            <a:ext cx="8572500" cy="85725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28"/>
          <p:cNvSpPr/>
          <p:nvPr/>
        </p:nvSpPr>
        <p:spPr>
          <a:xfrm>
            <a:off x="564179" y="3646984"/>
            <a:ext cx="8001000" cy="49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 ciclo iterativo promove a </a:t>
            </a:r>
            <a:r>
              <a:rPr lang="en-US" sz="1200" b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aprendizagem ativa</a:t>
            </a: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transformando a teoria em </a:t>
            </a:r>
            <a:r>
              <a:rPr lang="en-US" sz="1200" b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capacidade prática</a:t>
            </a: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de reconhecimento de ameaças em tempo real.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0" y="800100"/>
            <a:ext cx="9144000" cy="57150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428625" y="285750"/>
            <a:ext cx="8286750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b="1" kern="0" spc="2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TECNOLOGIAS UTILIZADAS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28625" y="1202140"/>
            <a:ext cx="2619356" cy="3857625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1381116" y="1571625"/>
            <a:ext cx="714375" cy="714375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3991" y="1757363"/>
            <a:ext cx="428625" cy="3429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74699" y="2498527"/>
            <a:ext cx="2405015" cy="33214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GAMEMAKER STUDIO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2938" y="2927152"/>
            <a:ext cx="2190731" cy="16328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Motor de jogo principal utilizado para o desenvolvimento da lógica 2D, gerenciamento de estados e exportação do executável final.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95236" y="4618064"/>
            <a:ext cx="2552690" cy="356380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kern="0" spc="1" dirty="0">
                <a:solidFill>
                  <a:srgbClr val="0F286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DESENVOLVIMENTO &amp; LÓGICA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233719" y="1202140"/>
            <a:ext cx="2619384" cy="3857625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9"/>
          <p:cNvSpPr/>
          <p:nvPr/>
        </p:nvSpPr>
        <p:spPr>
          <a:xfrm>
            <a:off x="4214785" y="1571625"/>
            <a:ext cx="714375" cy="714375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0522" y="1757363"/>
            <a:ext cx="342900" cy="3429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476606" y="2500313"/>
            <a:ext cx="2190759" cy="33214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ASEPRITE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3476606" y="2927152"/>
            <a:ext cx="2190759" cy="13571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 especializada em pixel art para a criação de todos os assets visuais, ícones customizados e animações de interface.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3214604" y="4618064"/>
            <a:ext cx="2638499" cy="356380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kern="0" spc="1" dirty="0">
                <a:solidFill>
                  <a:srgbClr val="0F286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ARTE &amp; IDENTIDADE VISUAL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096019" y="1202139"/>
            <a:ext cx="2619356" cy="3857625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4"/>
          <p:cNvSpPr/>
          <p:nvPr/>
        </p:nvSpPr>
        <p:spPr>
          <a:xfrm>
            <a:off x="7048481" y="1571625"/>
            <a:ext cx="714375" cy="714375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4219" y="1757363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310303" y="2500313"/>
            <a:ext cx="2190731" cy="33214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FIGMA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6310303" y="2927152"/>
            <a:ext cx="2190731" cy="16328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Plataforma de design de interface utilizada para a prototipagem de alta fidelidade e definição do layout do sistema operacional SOC.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6095964" y="4618063"/>
            <a:ext cx="2619356" cy="356380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kern="0" spc="1" dirty="0">
                <a:solidFill>
                  <a:srgbClr val="0F286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PROTOTIPAGEM &amp; UI/UX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357313" y="478631"/>
            <a:ext cx="6429375" cy="4186238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1357313" y="478631"/>
            <a:ext cx="6429375" cy="71438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0" y="1053703"/>
            <a:ext cx="571500" cy="5715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78806" y="1935956"/>
            <a:ext cx="5386388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kern="0" spc="3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DEMONSTRAÇÃO PRÁTICA</a:t>
            </a:r>
            <a:endParaRPr lang="en-US" sz="2450" dirty="0"/>
          </a:p>
        </p:txBody>
      </p:sp>
      <p:sp>
        <p:nvSpPr>
          <p:cNvPr id="7" name="Text 3"/>
          <p:cNvSpPr/>
          <p:nvPr/>
        </p:nvSpPr>
        <p:spPr>
          <a:xfrm>
            <a:off x="1785938" y="2496741"/>
            <a:ext cx="5572125" cy="384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0A3C4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  <a:hlinkClick r:id="rId5"/>
              </a:rPr>
              <a:t>https://gx.games/games/5ash56/login-quest/tracks/1c71bb57-f7eb-41e7-9609-2cead4636d5a/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1785938" y="3271838"/>
            <a:ext cx="2678906" cy="571500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00A3C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8813" y="3557588"/>
            <a:ext cx="142875" cy="1428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178844" y="3550444"/>
            <a:ext cx="1810941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Análise de E-mail e Phishing</a:t>
            </a:r>
            <a:endParaRPr lang="en-US" sz="950" dirty="0"/>
          </a:p>
        </p:txBody>
      </p:sp>
      <p:sp>
        <p:nvSpPr>
          <p:cNvPr id="11" name="Shape 6"/>
          <p:cNvSpPr/>
          <p:nvPr/>
        </p:nvSpPr>
        <p:spPr>
          <a:xfrm>
            <a:off x="4679156" y="3271838"/>
            <a:ext cx="2678906" cy="571500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00A3C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2031" y="3557588"/>
            <a:ext cx="160734" cy="14287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089922" y="3471863"/>
            <a:ext cx="212526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Consulta ao Manual de Protocolos</a:t>
            </a:r>
            <a:endParaRPr lang="en-US" sz="950" dirty="0"/>
          </a:p>
        </p:txBody>
      </p:sp>
      <p:sp>
        <p:nvSpPr>
          <p:cNvPr id="14" name="Shape 8"/>
          <p:cNvSpPr/>
          <p:nvPr/>
        </p:nvSpPr>
        <p:spPr>
          <a:xfrm>
            <a:off x="1785938" y="4057650"/>
            <a:ext cx="2678906" cy="571500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00A3C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9"/>
          <p:cNvSpPr/>
          <p:nvPr/>
        </p:nvSpPr>
        <p:spPr>
          <a:xfrm>
            <a:off x="2035969" y="4336256"/>
            <a:ext cx="169128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Uso do Scanner de Anexos</a:t>
            </a:r>
            <a:endParaRPr lang="en-US" sz="950" dirty="0"/>
          </a:p>
        </p:txBody>
      </p:sp>
      <p:sp>
        <p:nvSpPr>
          <p:cNvPr id="16" name="Shape 10"/>
          <p:cNvSpPr/>
          <p:nvPr/>
        </p:nvSpPr>
        <p:spPr>
          <a:xfrm>
            <a:off x="4679156" y="4057650"/>
            <a:ext cx="2678906" cy="571500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00A3C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2031" y="4343400"/>
            <a:ext cx="142875" cy="14287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072063" y="4336256"/>
            <a:ext cx="2041327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Sistema de Feedback Educativo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0" y="800100"/>
            <a:ext cx="9144000" cy="57150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428625" y="285750"/>
            <a:ext cx="8286750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b="1" kern="0" spc="2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METODOLOGIA DE AVALIAÇÃO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28625" y="1143000"/>
            <a:ext cx="8286750" cy="857250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428625" y="1143000"/>
            <a:ext cx="57150" cy="842963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642937" y="1216182"/>
            <a:ext cx="7858125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DESIGN SCIENCE RESEARCH (DSR)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2936" y="1501815"/>
            <a:ext cx="7858125" cy="469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Metodologia focada na criação e avaliação de artefatos para resolver problemas organizacionais identificados, garantindo rigor científico e relevância prática.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8625" y="2286000"/>
            <a:ext cx="1964531" cy="1862919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571500" y="2464594"/>
            <a:ext cx="1678781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00A3C4">
                    <a:alpha val="50000"/>
                  </a:srgbClr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01</a:t>
            </a:r>
            <a:endParaRPr lang="en-US" sz="2450" dirty="0"/>
          </a:p>
        </p:txBody>
      </p:sp>
      <p:sp>
        <p:nvSpPr>
          <p:cNvPr id="12" name="Text 9"/>
          <p:cNvSpPr/>
          <p:nvPr/>
        </p:nvSpPr>
        <p:spPr>
          <a:xfrm>
            <a:off x="571500" y="2953941"/>
            <a:ext cx="1678781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PRÉ-TESTE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71500" y="3218259"/>
            <a:ext cx="1678781" cy="816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Avaliação do nível de conhecimento prévio dos participantes sobre cibersegurança.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536031" y="2286000"/>
            <a:ext cx="1964531" cy="1862919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2678906" y="2464594"/>
            <a:ext cx="1678781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00A3C4">
                    <a:alpha val="50000"/>
                  </a:srgbClr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02</a:t>
            </a:r>
            <a:endParaRPr lang="en-US" sz="2450" dirty="0"/>
          </a:p>
        </p:txBody>
      </p:sp>
      <p:sp>
        <p:nvSpPr>
          <p:cNvPr id="16" name="Text 13"/>
          <p:cNvSpPr/>
          <p:nvPr/>
        </p:nvSpPr>
        <p:spPr>
          <a:xfrm>
            <a:off x="2678906" y="2953941"/>
            <a:ext cx="1678781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GAMEPLAY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2678906" y="3218259"/>
            <a:ext cx="1678781" cy="816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Interação direta com o Login Quest, assumindo o papel de analista de SOC.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643438" y="2286000"/>
            <a:ext cx="1964531" cy="1862919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4786313" y="2464594"/>
            <a:ext cx="1678781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00A3C4">
                    <a:alpha val="50000"/>
                  </a:srgbClr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03</a:t>
            </a:r>
            <a:endParaRPr lang="en-US" sz="2450" dirty="0"/>
          </a:p>
        </p:txBody>
      </p:sp>
      <p:sp>
        <p:nvSpPr>
          <p:cNvPr id="20" name="Text 17"/>
          <p:cNvSpPr/>
          <p:nvPr/>
        </p:nvSpPr>
        <p:spPr>
          <a:xfrm>
            <a:off x="4786313" y="2953941"/>
            <a:ext cx="1678781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PÓS-TESTE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786313" y="3218259"/>
            <a:ext cx="1678781" cy="816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Mensuração da retenção e ganho de conhecimento após o uso do jogo.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750844" y="2286000"/>
            <a:ext cx="1964531" cy="1862919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893719" y="2464594"/>
            <a:ext cx="1678781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00A3C4">
                    <a:alpha val="50000"/>
                  </a:srgbClr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04</a:t>
            </a:r>
            <a:endParaRPr lang="en-US" sz="2450" dirty="0"/>
          </a:p>
        </p:txBody>
      </p:sp>
      <p:sp>
        <p:nvSpPr>
          <p:cNvPr id="24" name="Text 21"/>
          <p:cNvSpPr/>
          <p:nvPr/>
        </p:nvSpPr>
        <p:spPr>
          <a:xfrm>
            <a:off x="6893719" y="2953941"/>
            <a:ext cx="1678781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PERCEPÇÃO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893719" y="3218259"/>
            <a:ext cx="1678781" cy="816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Questionário em escala Likert para avaliar usabilidade e engajamento.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8625" y="4286250"/>
            <a:ext cx="8286750" cy="617846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59" y="4364831"/>
            <a:ext cx="214313" cy="17145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869305" y="4364831"/>
            <a:ext cx="2015430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F286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Amostra: 30 Participantes</a:t>
            </a:r>
            <a:endParaRPr lang="en-US" sz="1200" dirty="0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5703" y="4296788"/>
            <a:ext cx="128588" cy="17145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5849391" y="4318488"/>
            <a:ext cx="2865984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F286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Abordagem: Quantitativa e Qualitativa</a:t>
            </a:r>
            <a:endParaRPr lang="en-US" sz="1200" dirty="0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7578" y="4650225"/>
            <a:ext cx="171450" cy="17145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3042438" y="4650225"/>
            <a:ext cx="3286125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F286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Ambiente: Controlado (Laboratório/Remoto)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-1"/>
            <a:ext cx="9175845" cy="501134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0" y="800100"/>
            <a:ext cx="9144000" cy="57150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428625" y="285750"/>
            <a:ext cx="8286750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b="1" kern="0" spc="2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PERFIL DOS PARTICIPANTES (N=30)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28625" y="1143000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428625" y="1143000"/>
            <a:ext cx="35719" cy="1878806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607219" y="1285875"/>
            <a:ext cx="3679031" cy="258404"/>
          </a:xfrm>
          <a:prstGeom prst="rect">
            <a:avLst/>
          </a:prstGeom>
          <a:noFill/>
          <a:ln/>
        </p:spPr>
        <p:txBody>
          <a:bodyPr wrap="square" lIns="0" tIns="0" rIns="0" bIns="42545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FAIXA ETÁRIA</a:t>
            </a:r>
            <a:endParaRPr lang="en-US" sz="14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222" y="1521619"/>
            <a:ext cx="3664744" cy="128587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0405" y="2841427"/>
            <a:ext cx="3821906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71809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Predominância de jovens adultos (18-30 anos)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679156" y="1143000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8"/>
          <p:cNvSpPr/>
          <p:nvPr/>
        </p:nvSpPr>
        <p:spPr>
          <a:xfrm>
            <a:off x="4679156" y="1143000"/>
            <a:ext cx="35719" cy="1878806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9"/>
          <p:cNvSpPr/>
          <p:nvPr/>
        </p:nvSpPr>
        <p:spPr>
          <a:xfrm>
            <a:off x="4857750" y="1285875"/>
            <a:ext cx="3679031" cy="258404"/>
          </a:xfrm>
          <a:prstGeom prst="rect">
            <a:avLst/>
          </a:prstGeom>
          <a:noFill/>
          <a:ln/>
        </p:spPr>
        <p:txBody>
          <a:bodyPr wrap="square" lIns="0" tIns="0" rIns="0" bIns="42545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USO DE COMPUTADOR</a:t>
            </a:r>
            <a:endParaRPr lang="en-US" sz="14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4194" y="1622911"/>
            <a:ext cx="840839" cy="74741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721251" y="2441762"/>
            <a:ext cx="1987748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A3C4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90%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4634258" y="2831097"/>
            <a:ext cx="3119139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71809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Utilizam diariamente para trabalho/estudo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28624" y="3127177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3"/>
          <p:cNvSpPr/>
          <p:nvPr/>
        </p:nvSpPr>
        <p:spPr>
          <a:xfrm>
            <a:off x="420521" y="3121820"/>
            <a:ext cx="35719" cy="1878806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4"/>
          <p:cNvSpPr/>
          <p:nvPr/>
        </p:nvSpPr>
        <p:spPr>
          <a:xfrm>
            <a:off x="520783" y="3186113"/>
            <a:ext cx="3679031" cy="258404"/>
          </a:xfrm>
          <a:prstGeom prst="rect">
            <a:avLst/>
          </a:prstGeom>
          <a:noFill/>
          <a:ln/>
        </p:spPr>
        <p:txBody>
          <a:bodyPr wrap="square" lIns="0" tIns="0" rIns="0" bIns="42545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EXPERIÊNCIA COM JOGOS</a:t>
            </a:r>
            <a:endParaRPr lang="en-US" sz="14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070" y="3432290"/>
            <a:ext cx="3874236" cy="135938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-93366" y="4831349"/>
            <a:ext cx="3679031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71809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Perfil variado: de casuais a frequentes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697015" y="3127177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17"/>
          <p:cNvSpPr/>
          <p:nvPr/>
        </p:nvSpPr>
        <p:spPr>
          <a:xfrm>
            <a:off x="4690271" y="3132534"/>
            <a:ext cx="35719" cy="1878806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18"/>
          <p:cNvSpPr/>
          <p:nvPr/>
        </p:nvSpPr>
        <p:spPr>
          <a:xfrm>
            <a:off x="4819355" y="3205674"/>
            <a:ext cx="3679031" cy="535403"/>
          </a:xfrm>
          <a:prstGeom prst="rect">
            <a:avLst/>
          </a:prstGeom>
          <a:noFill/>
          <a:ln/>
        </p:spPr>
        <p:txBody>
          <a:bodyPr wrap="square" lIns="0" tIns="0" rIns="0" bIns="42545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TREINAMENTO PRÉVIO EM SEGURANÇA</a:t>
            </a:r>
            <a:endParaRPr lang="en-US" sz="16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375" y="3709266"/>
            <a:ext cx="744798" cy="595839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957877" y="4408465"/>
            <a:ext cx="163949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A3C4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30%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4641478" y="4793144"/>
            <a:ext cx="2643499" cy="169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71809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Já realizaram treinamentos formais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0" y="800100"/>
            <a:ext cx="9144000" cy="57150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428625" y="285750"/>
            <a:ext cx="8286750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b="1" kern="0" spc="2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RESULTADOS E DISCUSSÃO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21482" y="1000124"/>
            <a:ext cx="4000500" cy="4000500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51953" y="1113209"/>
            <a:ext cx="3571875" cy="289182"/>
          </a:xfrm>
          <a:prstGeom prst="rect">
            <a:avLst/>
          </a:prstGeom>
          <a:noFill/>
          <a:ln/>
        </p:spPr>
        <p:txBody>
          <a:bodyPr wrap="square" lIns="0" tIns="0" rIns="0" bIns="42545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EVOLUÇÃO DE DESEMPENHO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2938" y="1723430"/>
            <a:ext cx="3571875" cy="508992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642938" y="1723430"/>
            <a:ext cx="35719" cy="508992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785813" y="1866305"/>
            <a:ext cx="1280517" cy="3661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A3C4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+30,42%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3059489" y="1816418"/>
            <a:ext cx="1237655" cy="354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Ganho Médio de
Conhecimento</a:t>
            </a:r>
            <a:endParaRPr lang="en-US" sz="12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675" y="2446734"/>
            <a:ext cx="3785206" cy="22802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665225" y="1000124"/>
            <a:ext cx="4000500" cy="4000500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0"/>
          <p:cNvSpPr/>
          <p:nvPr/>
        </p:nvSpPr>
        <p:spPr>
          <a:xfrm>
            <a:off x="4789903" y="1089611"/>
            <a:ext cx="3875822" cy="289182"/>
          </a:xfrm>
          <a:prstGeom prst="rect">
            <a:avLst/>
          </a:prstGeom>
          <a:noFill/>
          <a:ln/>
        </p:spPr>
        <p:txBody>
          <a:bodyPr wrap="square" lIns="0" tIns="0" rIns="0" bIns="42545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PERCEPÇÃO DOS PARTICIPANTES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929188" y="1723430"/>
            <a:ext cx="3571875" cy="508992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2"/>
          <p:cNvSpPr/>
          <p:nvPr/>
        </p:nvSpPr>
        <p:spPr>
          <a:xfrm>
            <a:off x="4929188" y="1723430"/>
            <a:ext cx="35719" cy="508992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3"/>
          <p:cNvSpPr/>
          <p:nvPr/>
        </p:nvSpPr>
        <p:spPr>
          <a:xfrm>
            <a:off x="5072063" y="1866305"/>
            <a:ext cx="1057275" cy="3661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A3C4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4,31 / 5</a:t>
            </a:r>
            <a:endParaRPr lang="en-US" sz="2100" dirty="0"/>
          </a:p>
        </p:txBody>
      </p:sp>
      <p:sp>
        <p:nvSpPr>
          <p:cNvPr id="18" name="Text 14"/>
          <p:cNvSpPr/>
          <p:nvPr/>
        </p:nvSpPr>
        <p:spPr>
          <a:xfrm>
            <a:off x="7332882" y="1823165"/>
            <a:ext cx="1250512" cy="354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Média Geral de
Satisfação (Likert)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929188" y="2446734"/>
            <a:ext cx="1540743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Clareza dos Objetivos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072313" y="2471738"/>
            <a:ext cx="1428750" cy="857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7"/>
          <p:cNvSpPr/>
          <p:nvPr/>
        </p:nvSpPr>
        <p:spPr>
          <a:xfrm>
            <a:off x="4929188" y="2765906"/>
            <a:ext cx="1255152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Facilidade de Uso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072313" y="2714625"/>
            <a:ext cx="1428750" cy="857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19"/>
          <p:cNvSpPr/>
          <p:nvPr/>
        </p:nvSpPr>
        <p:spPr>
          <a:xfrm>
            <a:off x="4922975" y="3091532"/>
            <a:ext cx="1529265" cy="169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Engajamento / Imersão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7072313" y="2957513"/>
            <a:ext cx="1428750" cy="857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1"/>
          <p:cNvSpPr/>
          <p:nvPr/>
        </p:nvSpPr>
        <p:spPr>
          <a:xfrm>
            <a:off x="4929627" y="3429253"/>
            <a:ext cx="1394741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Utilidade Percebida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7072313" y="3200400"/>
            <a:ext cx="1428750" cy="857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3"/>
          <p:cNvSpPr/>
          <p:nvPr/>
        </p:nvSpPr>
        <p:spPr>
          <a:xfrm>
            <a:off x="4924449" y="3784459"/>
            <a:ext cx="1527791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Aplicabilidade Prática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7072313" y="3443288"/>
            <a:ext cx="1428750" cy="857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5"/>
          <p:cNvSpPr/>
          <p:nvPr/>
        </p:nvSpPr>
        <p:spPr>
          <a:xfrm>
            <a:off x="4789903" y="4549973"/>
            <a:ext cx="357187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71809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*Dados coletados via questionário pós-intervenção com 30 participantes.</a:t>
            </a:r>
            <a:endParaRPr lang="en-US" sz="10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A538CAEA-954E-0C69-A340-FB3BA31113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1959" y="2387893"/>
            <a:ext cx="2059612" cy="16250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0" y="800100"/>
            <a:ext cx="9144000" cy="57150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428625" y="285750"/>
            <a:ext cx="8286750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b="1" kern="0" spc="2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CONCLUSÕES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28625" y="1000125"/>
            <a:ext cx="8286750" cy="698636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428625" y="1000125"/>
            <a:ext cx="71438" cy="684349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227999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7275" y="1026795"/>
            <a:ext cx="74009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EFICÁCIA PEDAGÓGICA COMPROVADA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085850" y="1278731"/>
            <a:ext cx="7400925" cy="402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Login Quest demonstrou ser uma ferramenta superior aos métodos lineares, alcançando um ganho médio de 30,42 pontos percentuais no conhecimento dos participantes.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28625" y="1770199"/>
            <a:ext cx="8286750" cy="698636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8"/>
          <p:cNvSpPr/>
          <p:nvPr/>
        </p:nvSpPr>
        <p:spPr>
          <a:xfrm>
            <a:off x="428625" y="1770199"/>
            <a:ext cx="71438" cy="684349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998073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57275" y="1785944"/>
            <a:ext cx="74009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MITIGAÇÃO DO FATOR HUMANO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085850" y="2048805"/>
            <a:ext cx="7400925" cy="402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simulação prática permitiu que usuários identificassem ameaças complexas, reduzindo a vulnerabilidade organizacional através da experiência direta.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28625" y="2540273"/>
            <a:ext cx="8286750" cy="698636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2"/>
          <p:cNvSpPr/>
          <p:nvPr/>
        </p:nvSpPr>
        <p:spPr>
          <a:xfrm>
            <a:off x="428625" y="2540273"/>
            <a:ext cx="71438" cy="684349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2768147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85849" y="2567716"/>
            <a:ext cx="74009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POTENCIAL DE ESCALA CORPORATIVA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085850" y="2818879"/>
            <a:ext cx="7400925" cy="402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artefato apresenta alta viabilidade para ser adotado em processos de integração (onboarding) e treinamentos recorrentes de segurança da informação.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28625" y="3310347"/>
            <a:ext cx="8286750" cy="698636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6"/>
          <p:cNvSpPr/>
          <p:nvPr/>
        </p:nvSpPr>
        <p:spPr>
          <a:xfrm>
            <a:off x="428625" y="3310347"/>
            <a:ext cx="71438" cy="684349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375" y="3538221"/>
            <a:ext cx="171450" cy="2286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85850" y="3359061"/>
            <a:ext cx="7400925" cy="215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CONTRIBUIÇÃO ACADÊMICA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1085850" y="3588953"/>
            <a:ext cx="7400925" cy="368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Validação da metodologia Design Science Research para o desenvolvimento de Serious Games aplicados à cibersegurança no contexto brasileiro.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28625" y="4342507"/>
            <a:ext cx="8286750" cy="428625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0"/>
          <p:cNvSpPr/>
          <p:nvPr/>
        </p:nvSpPr>
        <p:spPr>
          <a:xfrm>
            <a:off x="1142583" y="4433707"/>
            <a:ext cx="3107495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Objetivos alcançados com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3678996" y="4433708"/>
            <a:ext cx="426783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3C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excelência técnica e pedagógica.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85725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1"/>
          <p:cNvSpPr/>
          <p:nvPr/>
        </p:nvSpPr>
        <p:spPr>
          <a:xfrm>
            <a:off x="0" y="800100"/>
            <a:ext cx="9144000" cy="57150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2"/>
          <p:cNvSpPr/>
          <p:nvPr/>
        </p:nvSpPr>
        <p:spPr>
          <a:xfrm>
            <a:off x="428625" y="285750"/>
            <a:ext cx="8286750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000" b="1" kern="0" spc="2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TRABALHOS FUTUROS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28625" y="1143000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428625" y="1143000"/>
            <a:ext cx="35719" cy="1878806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357313"/>
            <a:ext cx="150019" cy="2000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92969" y="1336157"/>
            <a:ext cx="2775684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EXPANSÃO MOBILE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2938" y="1664494"/>
            <a:ext cx="3607594" cy="1016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Desenvolvimento de versão para dispositivos móveis, permitindo treinamentos rápidos e acessíveis em qualquer lugar.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42938" y="2669977"/>
            <a:ext cx="3607594" cy="28264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kern="0" spc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PORTABILIDADE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679156" y="1143000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9"/>
          <p:cNvSpPr/>
          <p:nvPr/>
        </p:nvSpPr>
        <p:spPr>
          <a:xfrm>
            <a:off x="4679156" y="1143000"/>
            <a:ext cx="35719" cy="1878806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3469" y="1357313"/>
            <a:ext cx="200025" cy="20002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00649" y="1334214"/>
            <a:ext cx="2123649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NOVOS CENÁRIOS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4893469" y="1664494"/>
            <a:ext cx="3607594" cy="7580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Inclusão de ameaças emergentes como ataques de MFA (Multi-Factor Authentication), Redes Sociais e Deepfakes.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4893469" y="2669977"/>
            <a:ext cx="3607594" cy="28264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kern="0" spc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ATUALIZAÇÃO DE CONTEÚDO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28625" y="3202613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4"/>
          <p:cNvSpPr/>
          <p:nvPr/>
        </p:nvSpPr>
        <p:spPr>
          <a:xfrm>
            <a:off x="428625" y="3202613"/>
            <a:ext cx="35719" cy="1878806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8" y="3464719"/>
            <a:ext cx="250031" cy="20002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77983" y="3440381"/>
            <a:ext cx="2971374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INTELIGÊNCIA ARTIFICIAL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42938" y="3771900"/>
            <a:ext cx="3607594" cy="1016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Implementação de IA para geração dinâmica de desafios baseados no desempenho e dificuldades específicas do jogador.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642938" y="4777383"/>
            <a:ext cx="3607594" cy="28264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kern="0" spc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PERSONALIZAÇÃO</a:t>
            </a:r>
            <a:endParaRPr lang="en-US" sz="600" dirty="0"/>
          </a:p>
        </p:txBody>
      </p:sp>
      <p:sp>
        <p:nvSpPr>
          <p:cNvPr id="24" name="Shape 18"/>
          <p:cNvSpPr/>
          <p:nvPr/>
        </p:nvSpPr>
        <p:spPr>
          <a:xfrm>
            <a:off x="4671586" y="3213020"/>
            <a:ext cx="4036219" cy="1893094"/>
          </a:xfrm>
          <a:prstGeom prst="rect">
            <a:avLst/>
          </a:prstGeom>
          <a:solidFill>
            <a:srgbClr val="FFFFFF"/>
          </a:solidFill>
          <a:ln w="9144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19"/>
          <p:cNvSpPr/>
          <p:nvPr/>
        </p:nvSpPr>
        <p:spPr>
          <a:xfrm>
            <a:off x="4673434" y="3220164"/>
            <a:ext cx="35719" cy="1878806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3469" y="3464719"/>
            <a:ext cx="250031" cy="20002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250656" y="3446402"/>
            <a:ext cx="221012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INTEGRAÇÃO LMS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4893469" y="3771900"/>
            <a:ext cx="3607594" cy="1016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Conexão direta com plataformas educacionais corporativas (Moodle, Canvas) para rastreamento automático de progresso.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4893469" y="4777383"/>
            <a:ext cx="3607594" cy="28264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kern="0" spc="1" dirty="0">
                <a:solidFill>
                  <a:srgbClr val="00A3C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ECOSSISTEMA EDUCACIONAL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1143000"/>
            <a:ext cx="2658470" cy="258404"/>
          </a:xfrm>
          <a:prstGeom prst="rect">
            <a:avLst/>
          </a:prstGeom>
          <a:noFill/>
          <a:ln/>
        </p:spPr>
        <p:txBody>
          <a:bodyPr wrap="square" lIns="0" tIns="0" rIns="0" bIns="42545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2862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CONTATO E INFORMAÇÕES</a:t>
            </a:r>
            <a:endParaRPr lang="en-US" sz="14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589484"/>
            <a:ext cx="214313" cy="1714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28688" y="1587698"/>
            <a:ext cx="2301282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Gustavo Emanuel Abreu Ribeiro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907381"/>
            <a:ext cx="214313" cy="17145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928688" y="1905595"/>
            <a:ext cx="2446858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gustavoabreu4142@gmail.com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225278"/>
            <a:ext cx="214313" cy="171450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928688" y="2223492"/>
            <a:ext cx="2219396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Ciência da Computação - UDF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71500" y="2827139"/>
            <a:ext cx="4329113" cy="714375"/>
          </a:xfrm>
          <a:prstGeom prst="rect">
            <a:avLst/>
          </a:prstGeom>
          <a:solidFill>
            <a:srgbClr val="00A3C4">
              <a:alpha val="10000"/>
            </a:srgbClr>
          </a:solidFill>
          <a:ln w="9144">
            <a:solidFill>
              <a:srgbClr val="00A3C4"/>
            </a:solidFill>
            <a:prstDash val="dash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5"/>
          <p:cNvSpPr/>
          <p:nvPr/>
        </p:nvSpPr>
        <p:spPr>
          <a:xfrm>
            <a:off x="1656012" y="3033355"/>
            <a:ext cx="2496443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0F28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Dúvidas e Perguntas?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571500" y="3929063"/>
            <a:ext cx="4329113" cy="758093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"O fator humano é o elo mais fraco, mas com educação e ferramentas como o </a:t>
            </a:r>
            <a:r>
              <a:rPr lang="en-US" sz="1200" b="1" i="1" dirty="0">
                <a:solidFill>
                  <a:srgbClr val="0F2862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Login Quest</a:t>
            </a:r>
            <a:r>
              <a:rPr lang="en-US" sz="1400" i="1" dirty="0">
                <a:solidFill>
                  <a:srgbClr val="4A556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pode se tornar a primeira linha de defesa."</a:t>
            </a:r>
            <a:endParaRPr lang="en-US" sz="1400" dirty="0"/>
          </a:p>
        </p:txBody>
      </p:sp>
      <p:sp>
        <p:nvSpPr>
          <p:cNvPr id="13" name="Shape 7"/>
          <p:cNvSpPr/>
          <p:nvPr/>
        </p:nvSpPr>
        <p:spPr>
          <a:xfrm>
            <a:off x="5329238" y="0"/>
            <a:ext cx="3814763" cy="5143500"/>
          </a:xfrm>
          <a:prstGeom prst="rect">
            <a:avLst/>
          </a:prstGeom>
          <a:solidFill>
            <a:srgbClr val="0F286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8"/>
          <p:cNvSpPr/>
          <p:nvPr/>
        </p:nvSpPr>
        <p:spPr>
          <a:xfrm>
            <a:off x="5329238" y="0"/>
            <a:ext cx="71438" cy="5143500"/>
          </a:xfrm>
          <a:prstGeom prst="rect">
            <a:avLst/>
          </a:prstGeom>
          <a:solidFill>
            <a:srgbClr val="00A3C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9"/>
          <p:cNvSpPr/>
          <p:nvPr/>
        </p:nvSpPr>
        <p:spPr>
          <a:xfrm>
            <a:off x="5848945" y="2617291"/>
            <a:ext cx="281820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OBRIGADO!</a:t>
            </a:r>
            <a:endParaRPr lang="en-US" sz="3300" dirty="0"/>
          </a:p>
        </p:txBody>
      </p:sp>
      <p:sp>
        <p:nvSpPr>
          <p:cNvPr id="16" name="Text 10"/>
          <p:cNvSpPr/>
          <p:nvPr/>
        </p:nvSpPr>
        <p:spPr>
          <a:xfrm>
            <a:off x="5698540" y="3309815"/>
            <a:ext cx="3147595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3C4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Pela atenção e disponibilidade.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1603</Words>
  <Application>Microsoft Office PowerPoint</Application>
  <PresentationFormat>On-screen Show (16:9)</PresentationFormat>
  <Paragraphs>264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Montserrat Bold</vt:lpstr>
      <vt:lpstr>Montserrat Light</vt:lpstr>
      <vt:lpstr>Montserrat SemiBold</vt:lpstr>
      <vt:lpstr>Open Sans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Gustavo</cp:lastModifiedBy>
  <cp:revision>3</cp:revision>
  <dcterms:created xsi:type="dcterms:W3CDTF">2026-06-17T02:25:41Z</dcterms:created>
  <dcterms:modified xsi:type="dcterms:W3CDTF">2026-06-18T02:43:50Z</dcterms:modified>
</cp:coreProperties>
</file>